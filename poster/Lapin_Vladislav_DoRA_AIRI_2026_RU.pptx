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5aedfc10f6d49d5" /><Relationship Type="http://schemas.openxmlformats.org/officeDocument/2006/relationships/extended-properties" Target="/docProps/app.xml" Id="Rc6d52d947d4b49cd" /><Relationship Type="http://schemas.openxmlformats.org/officeDocument/2006/relationships/officeDocument" Target="/ppt/presentation.xml" Id="Rd0d2c9beef034f1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89fa6d68d2d4b7c"/>
  </p:sldMasterIdLst>
  <p:notesMasterIdLst>
    <p:notesMasterId xmlns:r="http://schemas.openxmlformats.org/officeDocument/2006/relationships" r:id="R35c344bf9bd3461c"/>
  </p:notesMasterIdLst>
  <p:sldIdLst>
    <p:sldId xmlns:r="http://schemas.openxmlformats.org/officeDocument/2006/relationships" id="256" r:id="R62c8749e3d1b446d"/>
  </p:sldIdLst>
  <p:sldSz cx="21383625" cy="30275213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65ab90ae9fd4558" /><Relationship Type="http://schemas.openxmlformats.org/officeDocument/2006/relationships/slideMaster" Target="/ppt/slideMasters/slideMaster1.xml" Id="Re89fa6d68d2d4b7c" /><Relationship Type="http://schemas.openxmlformats.org/officeDocument/2006/relationships/notesMaster" Target="/ppt/notesMasters/notesMaster1.xml" Id="R35c344bf9bd3461c" /><Relationship Type="http://schemas.openxmlformats.org/officeDocument/2006/relationships/presProps" Target="/ppt/presProps.xml" Id="Rd110f0b8585b43b2" /><Relationship Type="http://schemas.openxmlformats.org/officeDocument/2006/relationships/viewProps" Target="/ppt/viewProps.xml" Id="R16271af82bd24102" /><Relationship Type="http://schemas.openxmlformats.org/officeDocument/2006/relationships/tableStyles" Target="/ppt/tableStyles.xml" Id="R95ec38879b0f48f7" /><Relationship Type="http://schemas.openxmlformats.org/officeDocument/2006/relationships/slide" Target="/ppt/slides/slide1.xml" Id="R62c8749e3d1b446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a8eac6b39ac4ae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Тема Office">
  <a:themeElements>
    <a:clrScheme name="AIRI Summer">
      <a:dk1>
        <a:srgbClr val="000000"/>
      </a:dk1>
      <a:lt1>
        <a:srgbClr val="FFFFFF"/>
      </a:lt1>
      <a:dk2>
        <a:srgbClr val="494949"/>
      </a:dk2>
      <a:lt2>
        <a:srgbClr val="F2EEE9"/>
      </a:lt2>
      <a:accent1>
        <a:srgbClr val="1D51C8"/>
      </a:accent1>
      <a:accent2>
        <a:srgbClr val="988CFF"/>
      </a:accent2>
      <a:accent3>
        <a:srgbClr val="A5A5A5"/>
      </a:accent3>
      <a:accent4>
        <a:srgbClr val="FFD027"/>
      </a:accent4>
      <a:accent5>
        <a:srgbClr val="50C0FF"/>
      </a:accent5>
      <a:accent6>
        <a:srgbClr val="3ED0B9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RI Summ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e93c6bef0d04a17" /><Relationship Type="http://schemas.openxmlformats.org/officeDocument/2006/relationships/notesMaster" Target="/ppt/notesMasters/notesMaster1.xml" Id="Rfbc9649dd0c0404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470d75e0cb443f" /><Relationship Type="http://schemas.openxmlformats.org/officeDocument/2006/relationships/image" Target="/ppt/media/image.png" Id="Re7f4363ce42c4c04" /><Relationship Type="http://schemas.openxmlformats.org/officeDocument/2006/relationships/image" Target="/ppt/media/image2.png" Id="Rb41ce93e6ccb4a86" /><Relationship Type="http://schemas.openxmlformats.org/officeDocument/2006/relationships/image" Target="/ppt/media/image3.png" Id="Rd83edec555b44d71" /><Relationship Type="http://schemas.openxmlformats.org/officeDocument/2006/relationships/image" Target="/ppt/media/image4.png" Id="R89257d3924114da8" /></Relationships>
</file>

<file path=ppt/slideLayouts/slideLayout1.xml><?xml version="1.0" encoding="utf-8"?>
<p:sldLayout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Рисунок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f4363ce42c4c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951886" y="1138545"/>
            <a:ext cx="3919926" cy="340496"/>
          </a:xfrm>
          <a:prstGeom xmlns:a="http://schemas.openxmlformats.org/drawingml/2006/main" prst="rect">
            <a:avLst/>
          </a:prstGeom>
        </p:spPr>
      </p:pic>
      <p:pic>
        <p:nvPicPr>
          <p:cNvPr id="2" name="Рисунок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1ce93e6ccb4a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45478" y="555676"/>
            <a:ext cx="5917195" cy="1057495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728F8C1-3D82-44B2-88E6-2946F096D0A8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511812" y="2430030"/>
            <a:ext cx="18360000" cy="11079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lvl1pPr algn="ctr">
              <a:buNone/>
              <a:defRPr sz="8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r>
              <a:t>Название </a:t>
            </a:r>
          </a:p>
        </p:txBody>
      </p:sp>
      <p:pic>
        <p:nvPicPr>
          <p:cNvPr id="4" name="Рисунок 5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3edec555b44d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49128" y="28581063"/>
            <a:ext cx="2302644" cy="627066"/>
          </a:xfrm>
          <a:prstGeom xmlns:a="http://schemas.openxmlformats.org/drawingml/2006/main" prst="rect">
            <a:avLst/>
          </a:prstGeom>
        </p:spPr>
      </p:pic>
      <p:pic>
        <p:nvPicPr>
          <p:cNvPr id="5" name="Рисунок 6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257d3924114da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956286" y="28609881"/>
            <a:ext cx="2265908" cy="542369"/>
          </a:xfrm>
          <a:prstGeom xmlns:a="http://schemas.openxmlformats.org/drawingml/2006/main" prst="rect">
            <a:avLst/>
          </a:prstGeom>
        </p:spPr>
      </p:pic>
      <p:sp>
        <p:nvSpPr>
          <p:cNvPr id="62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911521AD-ED2F-4070-A5C9-069811C93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377" y="29467207"/>
            <a:ext cx="3024450" cy="27699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b">
            <a:sp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buNone/>
            </a:pPr>
            <a:r>
              <a:rPr sz="2000">
                <a:solidFill>
                  <a:schemeClr val="bg1">
                    <a:lumMod val="65000"/>
                  </a:schemeClr>
                </a:solidFill>
                <a:latin typeface="Arial"/>
                <a:ea typeface="Arial"/>
                <a:cs typeface="Arial"/>
              </a:rPr>
              <a:t>Генеральный партнёр</a:t>
            </a:r>
          </a:p>
        </p:txBody>
      </p:sp>
      <p:sp>
        <p:nvSpPr>
          <p:cNvPr id="63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D0370A2-F3C5-4982-864E-FD69C694F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09662" y="29467207"/>
            <a:ext cx="2976199" cy="27699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b">
            <a:sp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buNone/>
            </a:pPr>
            <a:r>
              <a:rPr sz="2000">
                <a:solidFill>
                  <a:schemeClr val="bg1">
                    <a:lumMod val="65000"/>
                  </a:schemeClr>
                </a:solidFill>
                <a:latin typeface="Arial"/>
                <a:ea typeface="Arial"/>
                <a:cs typeface="Arial"/>
              </a:rPr>
              <a:t>Партнёр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d378fe9ce154a46" /><Relationship Type="http://schemas.openxmlformats.org/officeDocument/2006/relationships/slideLayout" Target="/ppt/slideLayouts/slideLayout1.xml" Id="Rc923cd7db9bf4e6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923cd7db9bf4e6c"/>
  </p:sldLayoutIdLst>
  <p:txStyles>
    <p:titleStyle>
      <a:lvl1pPr xmlns:a="http://schemas.openxmlformats.org/drawingml/2006/main" algn="l">
        <a:lnSpc>
          <a:spcPct val="90000"/>
        </a:lnSpc>
        <a:buNone/>
        <a:defRPr sz="10289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534581" indent="-534581" algn="l">
        <a:lnSpc>
          <a:spcPct val="90000"/>
        </a:lnSpc>
        <a:spcBef>
          <a:spcPts val="2339"/>
        </a:spcBef>
        <a:buChar char="•"/>
        <a:defRPr sz="6548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603743" indent="-534581" algn="l">
        <a:lnSpc>
          <a:spcPct val="90000"/>
        </a:lnSpc>
        <a:spcBef>
          <a:spcPts val="1169"/>
        </a:spcBef>
        <a:buChar char="•"/>
        <a:defRPr sz="5612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2672906" indent="-534581" algn="l">
        <a:lnSpc>
          <a:spcPct val="90000"/>
        </a:lnSpc>
        <a:spcBef>
          <a:spcPts val="1169"/>
        </a:spcBef>
        <a:buChar char="•"/>
        <a:defRPr sz="4677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3742068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4811230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5880392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6949554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8018717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9087879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069162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2138324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3207487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4276649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5345811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6414973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7484135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8553298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Тема Office">
  <a:themeElements>
    <a:clrScheme name="AIRI Summer">
      <a:dk1>
        <a:srgbClr val="000000"/>
      </a:dk1>
      <a:lt1>
        <a:srgbClr val="FFFFFF"/>
      </a:lt1>
      <a:dk2>
        <a:srgbClr val="494949"/>
      </a:dk2>
      <a:lt2>
        <a:srgbClr val="F2EEE9"/>
      </a:lt2>
      <a:accent1>
        <a:srgbClr val="1D51C8"/>
      </a:accent1>
      <a:accent2>
        <a:srgbClr val="988CFF"/>
      </a:accent2>
      <a:accent3>
        <a:srgbClr val="A5A5A5"/>
      </a:accent3>
      <a:accent4>
        <a:srgbClr val="FFD027"/>
      </a:accent4>
      <a:accent5>
        <a:srgbClr val="50C0FF"/>
      </a:accent5>
      <a:accent6>
        <a:srgbClr val="3ED0B9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RI Summ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6dcaec110949c6" /><Relationship Type="http://schemas.openxmlformats.org/officeDocument/2006/relationships/hyperlink" Target="https://github.com/Vladislav-Lp/dora-sanity-experiment" TargetMode="External" Id="R01d1d0b912a74c08" /><Relationship Type="http://schemas.openxmlformats.org/officeDocument/2006/relationships/image" Target="/ppt/media/image5.png" Id="Rc3d7dab3d33b4715" /><Relationship Type="http://schemas.openxmlformats.org/officeDocument/2006/relationships/image" Target="/ppt/media/image6.png" Id="Rc89fd9a009e34764" /><Relationship Type="http://schemas.openxmlformats.org/officeDocument/2006/relationships/notesSlide" Target="/ppt/notesSlides/notesSlide1.xml" Id="R4932ea0e00e347c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35F437BD-98F8-7B42-921D-B072EC2BB7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11808" y="2133600"/>
            <a:ext cx="18360009" cy="1695450"/>
          </a:xfrm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49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49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Когда DoRA помогает?</a:t>
            </a:r>
          </a:p>
          <a:p xmlns:a="http://schemas.openxmlformats.org/drawingml/2006/main">
            <a:pPr algn="ctr">
              <a:lnSpc>
                <a:spcPct val="94000"/>
              </a:lnSpc>
              <a:buNone/>
              <a:defRPr sz="4950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495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Геометрия, бюджеты параметров и адаптация по малой выборке на удержанных сидах</a:t>
            </a:r>
          </a:p>
        </p:txBody>
      </p:sp>
      <p:sp>
        <p:nvSpPr>
          <p:cNvPr id="9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F964CF7-1659-7147-B572-E13A52A0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2170" y="4171950"/>
            <a:ext cx="14099286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lnSpc>
                <a:spcPct val="102000"/>
              </a:lnSpc>
              <a:buNone/>
              <a:defRPr sz="255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Vladislav Lapin  ·  MIPT FPMI / AI360  ·  Летняя школа AIRI 2026</a:t>
            </a:r>
          </a:p>
        </p:txBody>
      </p:sp>
      <p:sp>
        <p:nvSpPr>
          <p:cNvPr id="6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22F7037B-A9E7-804C-A32F-F530F150E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95" y="7029450"/>
            <a:ext cx="8328851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3750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8A80"/>
                </a:solidFill>
                <a:latin typeface="Arial"/>
                <a:ea typeface="Arial"/>
                <a:cs typeface="Arial"/>
              </a:rPr>
              <a:t>+1.06 п.п. MLP  ·  +0.92 п.п. CNN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8EFEBC4B-1CC1-914C-ACE6-C9FD0FDF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82" y="15969491"/>
            <a:ext cx="8328874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17D5A267-4A77-C249-B8B6-14811E2C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966" y="7848600"/>
            <a:ext cx="8328851" cy="1476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6000"/>
              </a:lnSpc>
              <a:spcAft>
                <a:spcPts val="7"/>
              </a:spcAft>
              <a:buNone/>
              <a:defRPr sz="20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15/20 пар MLP и 8/10 пар CNN — в пользу DoRA.</a:t>
            </a:r>
            <a:r>
              <a:rPr sz="24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 </a:t>
            </a:r>
            <a:r>
              <a:rPr sz="24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p с поправкой Холма:</a:t>
            </a:r>
            <a:r>
              <a:rPr sz="24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 0.382213 (MLP) / 0.158955 (CNN)</a:t>
            </a:r>
            <a:r>
              <a:rPr sz="24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. </a:t>
            </a:r>
            <a:r>
              <a:rPr sz="2400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Внутреннее подтверждение на фиксированных чекпоинтах ≠ внешняя репликация.</a:t>
            </a:r>
          </a:p>
        </p:txBody>
      </p:sp>
      <p:sp>
        <p:nvSpPr>
          <p:cNvPr id="11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EDBD61F-81A5-394C-888C-55CD3C1C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95" y="21878925"/>
            <a:ext cx="8328851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Рисунок 2. Удержанные сиды → режим данных → представительная способность / оптимизация.</a:t>
            </a:r>
          </a:p>
        </p:txBody>
      </p:sp>
      <p:sp>
        <p:nvSpPr>
          <p:cNvPr id="12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777D2B1B-83DE-4E47-8FA4-305FD5DAE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284" y="6572250"/>
            <a:ext cx="8328851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r>
              <a:rPr sz="3600"/>
              <a:t>Норма и направление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7F2C556B-62C1-8B47-B96E-BAAD9575C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12" y="12353589"/>
            <a:ext cx="8328874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E7D44248-8FEB-1D4C-88DA-BAC694E0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7400925"/>
            <a:ext cx="8328851" cy="427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/>
            <a:r>
              <a:rPr sz="2400"/>
              <a:t>LoRA добавляет низкоранговое обновление BA, связывая направление и норму строк. DoRA задаёт W = m ⊙ (W₀ + BA) / ‖W₀ + BA‖₂: BA управляет направлением, а m — масштабом строк.</a:t>
            </a:r>
          </a:p>
          <a:p xmlns:a="http://schemas.openxmlformats.org/drawingml/2006/main">
            <a:pPr algn="l"/>
            <a:r>
              <a:rPr sz="2400" b="1"/>
              <a:t>Исследовательский вопрос:</a:t>
            </a:r>
            <a:r>
              <a:rPr sz="2400"/>
              <a:t> улучшает ли эта степень свободы целевую адаптацию после честного выбора, контроля бюджета параметров и негативных контролей?</a:t>
            </a:r>
          </a:p>
        </p:txBody>
      </p:sp>
      <p:sp>
        <p:nvSpPr>
          <p:cNvPr id="15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EED20C35-7642-9F4E-A3BB-8C1184CC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17106900"/>
            <a:ext cx="8328851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65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Рисунок 1. LoRA связывает масштаб и направление; DoRA явно моделирует масштаб строк.</a:t>
            </a:r>
          </a:p>
        </p:txBody>
      </p:sp>
      <p:sp>
        <p:nvSpPr>
          <p:cNvPr id="16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BDA94D2-6FBE-464B-88DE-37208926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17859375"/>
            <a:ext cx="8328851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r>
              <a:rPr sz="3600"/>
              <a:t>Протокол зафиксирован до оценки</a:t>
            </a:r>
          </a:p>
        </p:txBody>
      </p:sp>
      <p:sp>
        <p:nvSpPr>
          <p:cNvPr id="17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DB942A2-5D0C-DD4B-8C75-0B6799E8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18630900"/>
            <a:ext cx="8328851" cy="3771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/>
            <a:r>
              <a:rPr sz="2400" b="1"/>
              <a:t>Валидация (5 пилотных сидов):</a:t>
            </a:r>
            <a:r>
              <a:rPr sz="2400"/>
              <a:t> скорость обучения, ранняя остановка, распределение ранга.</a:t>
            </a:r>
          </a:p>
          <a:p xmlns:a="http://schemas.openxmlformats.org/drawingml/2006/main">
            <a:pPr algn="l"/>
            <a:r>
              <a:rPr sz="2400" b="1"/>
              <a:t>Удержанные сиды:</a:t>
            </a:r>
            <a:r>
              <a:rPr sz="2400"/>
              <a:t> MLP — 20, CNN — 10; один фиксированный чекпоинт на архитектуру; три сдвига; отдельные семьи сравнений Холма m=9/6/3 (последняя — описательная).</a:t>
            </a:r>
          </a:p>
          <a:p xmlns:a="http://schemas.openxmlformats.org/drawingml/2006/main">
            <a:pPr algn="l"/>
            <a:r>
              <a:rPr sz="2400" b="1"/>
              <a:t>Базовые варианты:</a:t>
            </a:r>
            <a:r>
              <a:rPr sz="2400"/>
              <a:t> замороженная модель, только величина, LoRA, LoRA+ (B/A=16), LoRA с бюджетом параметров DoRA, DoRA в рамках бюджета параметров LoRA, полное дообучение.</a:t>
            </a:r>
          </a:p>
          <a:p xmlns:a="http://schemas.openxmlformats.org/drawingml/2006/main">
            <a:pPr algn="l"/>
            <a:r>
              <a:rPr sz="2400" b="1"/>
              <a:t>Устойчивость:</a:t>
            </a:r>
            <a:r>
              <a:rPr sz="2400"/>
              <a:t> 4 вложенных объёма данных; 10 синтетических целей × 5 инициализаций.</a:t>
            </a:r>
          </a:p>
          <a:p xmlns:a="http://schemas.openxmlformats.org/drawingml/2006/main">
            <a:pPr algn="l"/>
            <a:r>
              <a:rPr sz="2400" b="1"/>
              <a:t>1 960 строк; 1 840 задач обучения/оптимизации.</a:t>
            </a:r>
          </a:p>
        </p:txBody>
      </p:sp>
      <p:sp>
        <p:nvSpPr>
          <p:cNvPr id="18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3F137435-49A1-964A-A726-238A5F109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2764750"/>
            <a:ext cx="8328851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r>
              <a:rPr sz="3600"/>
              <a:t>Негативные контроли: ограничения</a:t>
            </a:r>
          </a:p>
        </p:txBody>
      </p:sp>
      <p:sp>
        <p:nvSpPr>
          <p:cNvPr id="19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2A14AC1E-18FC-CC42-B9F3-E2F1B0325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808" y="23574375"/>
            <a:ext cx="8328851" cy="440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/>
            <a:r>
              <a:rPr sz="2400" b="1"/>
              <a:t>Контраст (MLP):</a:t>
            </a:r>
            <a:r>
              <a:rPr sz="2400"/>
              <a:t> адаптация только величины 96.90% &gt; DoRA 95.18%.</a:t>
            </a:r>
          </a:p>
          <a:p xmlns:a="http://schemas.openxmlformats.org/drawingml/2006/main">
            <a:pPr algn="l"/>
            <a:r>
              <a:rPr sz="2400" b="1"/>
              <a:t>Поворот (MLP):</a:t>
            </a:r>
            <a:r>
              <a:rPr sz="2400"/>
              <a:t> LoRA с бюджетом параметров DoRA = DoRA = 93.89%.</a:t>
            </a:r>
          </a:p>
          <a:p xmlns:a="http://schemas.openxmlformats.org/drawingml/2006/main">
            <a:pPr algn="l"/>
            <a:r>
              <a:rPr sz="2400" b="1"/>
              <a:t>Смешанный сдвиг (MLP):</a:t>
            </a:r>
            <a:r>
              <a:rPr sz="2400"/>
              <a:t> согласование бюджета параметров снижает разрыв DoRA до +0.53 п.п.; ДИ пересекает ноль.</a:t>
            </a:r>
          </a:p>
          <a:p xmlns:a="http://schemas.openxmlformats.org/drawingml/2006/main">
            <a:pPr algn="l"/>
            <a:r>
              <a:rPr sz="2400" b="1"/>
              <a:t>Рамки:</a:t>
            </a:r>
            <a:r>
              <a:rPr sz="2400"/>
              <a:t> Digits; один фиксированный предобученный чекпоинт на архитектуру; одно целевое разбиение, уже использованное на разведочном этапе. Это контролируемое исследование механизма, не LLM-бенчмарк.</a:t>
            </a:r>
          </a:p>
        </p:txBody>
      </p:sp>
      <p:sp>
        <p:nvSpPr>
          <p:cNvPr id="24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00E0579D-4745-7A49-9210-5699A8300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395" y="23241000"/>
            <a:ext cx="8328851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r>
              <a:rPr sz="3600"/>
              <a:t>Что подтверждают проверки</a:t>
            </a:r>
          </a:p>
        </p:txBody>
      </p:sp>
      <p:sp>
        <p:nvSpPr>
          <p:cNvPr id="25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5D89536-B5CF-7D41-BE7A-E932D764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95" y="23955375"/>
            <a:ext cx="8328851" cy="4162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/>
            <a:r>
              <a:rPr sz="2400"/>
              <a:t>- </a:t>
            </a:r>
            <a:r>
              <a:rPr sz="2400" b="1"/>
              <a:t>Смешанный сдвиг:</a:t>
            </a:r>
            <a:r>
              <a:rPr sz="2400"/>
              <a:t> DoRA достигает 75.22% (MLP) и 80.53% (CNN), близко к полному дообучению (75.17%, 80.67%), при ≈12–15% обучаемых параметров.</a:t>
            </a:r>
          </a:p>
          <a:p xmlns:a="http://schemas.openxmlformats.org/drawingml/2006/main">
            <a:pPr algn="l"/>
            <a:r>
              <a:rPr sz="2400"/>
              <a:t>- </a:t>
            </a:r>
            <a:r>
              <a:rPr sz="2400" b="1"/>
              <a:t>Усиленные базовые варианты:</a:t>
            </a:r>
            <a:r>
              <a:rPr sz="2400"/>
              <a:t> LoRA с бюджетом параметров DoRA оставляет +0.53 п.п.; DoRA−LoRA+: p Холма=0.050935; DoRA в рамках бюджета параметров LoRA: +0.82 п.п. (вторичная семья: p Холма=0.347089).</a:t>
            </a:r>
          </a:p>
          <a:p xmlns:a="http://schemas.openxmlformats.org/drawingml/2006/main">
            <a:pPr algn="l"/>
            <a:r>
              <a:rPr sz="2400"/>
              <a:t>- </a:t>
            </a:r>
            <a:r>
              <a:rPr sz="2400" b="1"/>
              <a:t>Синтетическая диагностика (γ=0.8):</a:t>
            </a:r>
            <a:r>
              <a:rPr sz="2400"/>
              <a:t> DoRA точно представляет цель; 44/50 запусков достигают ошибки &lt;10^-3; средняя ошибка оракула LoRA — 0.289.</a:t>
            </a:r>
          </a:p>
          <a:p xmlns:a="http://schemas.openxmlformats.org/drawingml/2006/main">
            <a:pPr algn="l"/>
            <a:r>
              <a:rPr sz="2400"/>
              <a:t>- </a:t>
            </a:r>
            <a:r>
              <a:rPr sz="2400" b="1"/>
              <a:t>Следующий тест:</a:t>
            </a:r>
            <a:r>
              <a:rPr sz="2400"/>
              <a:t> неоднородный дрейф норм строк с контролями LoRA и адаптации только величины.</a:t>
            </a:r>
          </a:p>
        </p:txBody>
      </p:sp>
      <p:sp>
        <p:nvSpPr>
          <p:cNvPr id="27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8E8B3B8D-29F0-0743-BF4F-96A6C906B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395" y="6572250"/>
            <a:ext cx="8328851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1725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8A80"/>
                </a:solidFill>
                <a:latin typeface="Arial"/>
                <a:ea typeface="Arial"/>
                <a:cs typeface="Arial"/>
              </a:rPr>
              <a:t>СМЕШАННЫЙ СДВИГ</a:t>
            </a:r>
          </a:p>
        </p:txBody>
      </p:sp>
      <p:sp>
        <p:nvSpPr>
          <p:cNvPr id="28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07872322-45B8-0849-889C-1F819F04B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966" y="22288500"/>
            <a:ext cx="8328851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5000"/>
              </a:lnSpc>
              <a:spcAft>
                <a:spcPts val="7"/>
              </a:spcAft>
              <a:buNone/>
              <a:defRPr sz="165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Внутреннее подтверждение на фиксированных чекпоинтах; не внешняя репликация.</a:t>
            </a:r>
          </a:p>
        </p:txBody>
      </p:sp>
      <p:sp>
        <p:nvSpPr>
          <p:cNvPr id="35" name="Прямая соединительная линия 34">
            <a:extLst xmlns:a="http://schemas.openxmlformats.org/drawingml/2006/main">
              <a:ext uri="{FF2B5EF4-FFF2-40B4-BE49-F238E27FC236}">
                <a16:creationId xmlns:a16="http://schemas.microsoft.com/office/drawing/2014/main" id="{EB946C9F-BF3E-4996-800C-CB832F24F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1045" y="6653687"/>
            <a:ext cx="0" cy="20680342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7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8CEC3D49-17C8-C442-8612-0666054A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9460063"/>
            <a:ext cx="16893921" cy="3108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Код, исходные результаты, ноутбук и отчёт → приватная ссылка для рецензирования; доступ по запросу.</a:t>
            </a:r>
          </a:p>
        </p:txBody>
      </p:sp>
      <p:sp>
        <p:nvSpPr>
          <p:cNvPr id="22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D51292E-7EEB-3D48-87CF-183BB16B7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9021151"/>
            <a:ext cx="16893921" cy="3108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[3] Hayou et al. LoRA+. ICML 2024.     Статистический протокол и исходные CSV: GitHub.</a:t>
            </a:r>
          </a:p>
        </p:txBody>
      </p:sp>
      <p:sp>
        <p:nvSpPr>
          <p:cNvPr id="23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2D635EC2-8653-2A4C-8EB8-43B66B881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28545663"/>
            <a:ext cx="16893921" cy="3108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[1] Hu et al. LoRA. ICLR 2022.     [2] Liu et al. DoRA. ICML 2024.</a:t>
            </a:r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D19FED38-DB74-2F48-BCF3-EAD7C371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0906" y="28225476"/>
            <a:ext cx="1591419" cy="1591419"/>
          </a:xfrm>
          <a:prstGeom xmlns:a="http://schemas.openxmlformats.org/drawingml/2006/main" prst="roundRect">
            <a:avLst>
              <a:gd name="adj" fmla="val 11576"/>
            </a:avLst>
          </a:prstGeom>
          <a:solidFill xmlns:a="http://schemas.openxmlformats.org/drawingml/2006/main">
            <a:schemeClr val="bg1">
              <a:lumMod val="8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Скругленный прямоугольник 29">
            <a:extLst xmlns:a="http://schemas.openxmlformats.org/drawingml/2006/main">
              <a:ext uri="{FF2B5EF4-FFF2-40B4-BE49-F238E27FC236}">
                <a16:creationId xmlns:a16="http://schemas.microsoft.com/office/drawing/2014/main" id="{9B16BF6B-030C-4346-A6FA-EAA603EF4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37425" y="28381995"/>
            <a:ext cx="1278380" cy="1278380"/>
          </a:xfrm>
          <a:prstGeom xmlns:a="http://schemas.openxmlformats.org/drawingml/2006/main" prst="roundRect">
            <a:avLst>
              <a:gd name="adj" fmla="val 11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C4891C96-3C4F-E349-8BB1-537E0F819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26050" y="29870400"/>
            <a:ext cx="230505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lnSpc>
                <a:spcPct val="92000"/>
              </a:lnSpc>
              <a:buNone/>
              <a:defRPr sz="1275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8A80"/>
                </a:solidFill>
                <a:latin typeface="Arial"/>
                <a:ea typeface="Arial"/>
                <a:cs typeface="Arial"/>
                <a:hlinkClick xmlns:r="http://schemas.openxmlformats.org/officeDocument/2006/relationships" r:id="R01d1d0b912a74c08"/>
              </a:rPr>
              <a:t>ПРИВАТНАЯ ССЫЛКА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1DF444-88C1-40C3-B730-22B5E5179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13020294"/>
            <a:ext cx="1000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2400" b="1">
                <a:solidFill>
                  <a:srgbClr val="5A91A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91AA"/>
                </a:solidFill>
                <a:latin typeface="Arial"/>
                <a:ea typeface="Arial"/>
                <a:cs typeface="Arial"/>
              </a:rPr>
              <a:t>LoRA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63610E1-7DD1-4056-BE36-0BC0A8D2C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15001494"/>
            <a:ext cx="1000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2400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DoRA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6724CAF-B690-4BAC-B83A-E2EE51DC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4808" y="12810744"/>
            <a:ext cx="10668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3F5F6"/>
          </a:solidFill>
          <a:ln xmlns:a="http://schemas.openxmlformats.org/drawingml/2006/main" w="19050">
            <a:solidFill>
              <a:srgbClr val="A7AFB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3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W₀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C27AE4C-6C09-466E-866E-3465FD30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9358" y="12810744"/>
            <a:ext cx="1257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5D8"/>
          </a:solidFill>
          <a:ln xmlns:a="http://schemas.openxmlformats.org/drawingml/2006/main" w="19050">
            <a:solidFill>
              <a:srgbClr val="C99A2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+ BA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8CA0E78-8D0E-440E-A31D-AAF2F3349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4958" y="12810744"/>
            <a:ext cx="18669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DF5FA"/>
          </a:solidFill>
          <a:ln xmlns:a="http://schemas.openxmlformats.org/drawingml/2006/main" w="19050">
            <a:solidFill>
              <a:srgbClr val="5A91AA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Ŵ = W₀ + BA</a:t>
            </a:r>
          </a:p>
        </p:txBody>
      </p:sp>
      <p:cxnSp>
        <p:nvCxnSpPr>
          <p:cNvPr id="579" name=""/>
          <p:cNvCxnSpPr>
            <a:stCxn xmlns:a="http://schemas.openxmlformats.org/drawingml/2006/main" id="40" idx="3"/>
            <a:endCxn xmlns:a="http://schemas.openxmlformats.org/drawingml/2006/main" id="41" idx="1"/>
          </p:cNvCxnSpPr>
          <p:nvPr/>
        </p:nvCxnSpPr>
        <p:spPr>
          <a:xfrm xmlns:a="http://schemas.openxmlformats.org/drawingml/2006/main">
            <a:off x="3721608" y="13296519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A91AA"/>
            </a:solidFill>
            <a:prstDash val="solid"/>
            <a:tailEnd type="triangle" w="med" len="med"/>
          </a:ln>
        </p:spPr>
      </p:cxnSp>
      <p:cxnSp>
        <p:nvCxnSpPr>
          <p:cNvPr id="580" name=""/>
          <p:cNvCxnSpPr>
            <a:stCxn xmlns:a="http://schemas.openxmlformats.org/drawingml/2006/main" id="41" idx="3"/>
            <a:endCxn xmlns:a="http://schemas.openxmlformats.org/drawingml/2006/main" id="42" idx="1"/>
          </p:cNvCxnSpPr>
          <p:nvPr/>
        </p:nvCxnSpPr>
        <p:spPr>
          <a:xfrm xmlns:a="http://schemas.openxmlformats.org/drawingml/2006/main">
            <a:off x="6026658" y="13296519"/>
            <a:ext cx="16383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A91AA"/>
            </a:solidFill>
            <a:prstDash val="solid"/>
            <a:tailEnd type="triangle" w="med" len="med"/>
          </a:ln>
        </p:spPr>
      </p:cxn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2FA5031-BE2B-48B4-88B2-F2399362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4808" y="14753844"/>
            <a:ext cx="10668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3F5F6"/>
          </a:solidFill>
          <a:ln xmlns:a="http://schemas.openxmlformats.org/drawingml/2006/main" w="19050">
            <a:solidFill>
              <a:srgbClr val="A7AFB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3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W₀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7C80243-8BDD-424F-87DA-C61CFC0BB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858" y="14753844"/>
            <a:ext cx="17526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5D8"/>
          </a:solidFill>
          <a:ln xmlns:a="http://schemas.openxmlformats.org/drawingml/2006/main" w="19050">
            <a:solidFill>
              <a:srgbClr val="C99A2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 = W₀ + BA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AD2BA60-3750-49A8-B7DA-24A22DEA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9558" y="14753844"/>
            <a:ext cx="14287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AF8"/>
          </a:solidFill>
          <a:ln xmlns:a="http://schemas.openxmlformats.org/drawingml/2006/main" w="19050">
            <a:solidFill>
              <a:srgbClr val="23BFB5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 / ‖V‖₂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FFC1D0D-B46B-4391-80E8-1CE490A98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7408" y="14753844"/>
            <a:ext cx="14287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AF8"/>
          </a:solidFill>
          <a:ln xmlns:a="http://schemas.openxmlformats.org/drawingml/2006/main" w="19050">
            <a:solidFill>
              <a:srgbClr val="087F78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1875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m ⊙ V/‖V‖₂</a:t>
            </a:r>
          </a:p>
        </p:txBody>
      </p:sp>
      <p:cxnSp>
        <p:nvCxnSpPr>
          <p:cNvPr id="585" name=""/>
          <p:cNvCxnSpPr>
            <a:stCxn xmlns:a="http://schemas.openxmlformats.org/drawingml/2006/main" id="45" idx="3"/>
            <a:endCxn xmlns:a="http://schemas.openxmlformats.org/drawingml/2006/main" id="46" idx="1"/>
          </p:cNvCxnSpPr>
          <p:nvPr/>
        </p:nvCxnSpPr>
        <p:spPr>
          <a:xfrm xmlns:a="http://schemas.openxmlformats.org/drawingml/2006/main">
            <a:off x="3721608" y="15239619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78"/>
            </a:solidFill>
            <a:prstDash val="solid"/>
            <a:tailEnd type="triangle" w="med" len="med"/>
          </a:ln>
        </p:spPr>
      </p:cxnSp>
      <p:cxnSp>
        <p:nvCxnSpPr>
          <p:cNvPr id="586" name=""/>
          <p:cNvCxnSpPr>
            <a:stCxn xmlns:a="http://schemas.openxmlformats.org/drawingml/2006/main" id="46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5950458" y="15239619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78"/>
            </a:solidFill>
            <a:prstDash val="solid"/>
            <a:tailEnd type="triangle" w="med" len="med"/>
          </a:ln>
        </p:spPr>
      </p:cxnSp>
      <p:cxnSp>
        <p:nvCxnSpPr>
          <p:cNvPr id="587" name=""/>
          <p:cNvCxnSpPr>
            <a:stCxn xmlns:a="http://schemas.openxmlformats.org/drawingml/2006/main" id="47" idx="3"/>
            <a:endCxn xmlns:a="http://schemas.openxmlformats.org/drawingml/2006/main" id="48" idx="1"/>
          </p:cNvCxnSpPr>
          <p:nvPr/>
        </p:nvCxnSpPr>
        <p:spPr>
          <a:xfrm xmlns:a="http://schemas.openxmlformats.org/drawingml/2006/main">
            <a:off x="7798308" y="15239619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78"/>
            </a:solidFill>
            <a:prstDash val="solid"/>
            <a:tailEnd type="triangle" w="med" len="med"/>
          </a:ln>
        </p:spPr>
      </p:cxn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754FDEC-97A6-4839-844F-C8A084D4A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8108" y="15792069"/>
            <a:ext cx="1733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направление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1AB3E0B-210A-4645-963E-5C0CE30A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958" y="15792069"/>
            <a:ext cx="175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162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350" b="1">
                <a:solidFill>
                  <a:srgbClr val="008A8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8A80"/>
                </a:solidFill>
                <a:latin typeface="Arial"/>
                <a:ea typeface="Arial"/>
                <a:cs typeface="Arial"/>
              </a:rPr>
              <a:t>независимый масштаб строк m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60515CC-C181-48B1-BD60-FBC6F2BC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5758" y="16296894"/>
            <a:ext cx="6915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500" b="0">
                <a:solidFill>
                  <a:srgbClr val="5F68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870"/>
                </a:solidFill>
                <a:latin typeface="Arial"/>
                <a:ea typeface="Arial"/>
                <a:cs typeface="Arial"/>
              </a:rPr>
              <a:t>Одинаковый ранг r; DoRA добавляет d_out обучаемых параметров величины.</a:t>
            </a:r>
          </a:p>
        </p:txBody>
      </p:sp>
      <p:pic>
        <p:nvPicPr>
          <p:cNvPr id="59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d7dab3d33b4715"/>
          <a:stretch xmlns:a="http://schemas.openxmlformats.org/drawingml/2006/main"/>
        </p:blipFill>
        <p:spPr>
          <a:xfrm xmlns:a="http://schemas.openxmlformats.org/drawingml/2006/main" flipH="0" flipV="0">
            <a:off x="11540395" y="9573464"/>
            <a:ext cx="8328851" cy="12552272"/>
          </a:xfrm>
          <a:prstGeom xmlns:a="http://schemas.openxmlformats.org/drawingml/2006/main" prst="rect">
            <a:avLst/>
          </a:prstGeom>
        </p:spPr>
      </p:pic>
      <p:pic>
        <p:nvPicPr>
          <p:cNvPr id="59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9fd9a009e34764"/>
          <a:stretch xmlns:a="http://schemas.openxmlformats.org/drawingml/2006/main"/>
        </p:blipFill>
        <p:spPr>
          <a:xfrm xmlns:a="http://schemas.openxmlformats.org/drawingml/2006/main">
            <a:off x="18437447" y="28382023"/>
            <a:ext cx="1278350" cy="12783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5841552"/>
      </p:ext>
    </p:extLst>
  </p:cSld>
</p:sld>
</file>

<file path=ppt/theme/theme1.xml><?xml version="1.0" encoding="utf-8"?>
<a:theme xmlns:a="http://schemas.openxmlformats.org/drawingml/2006/main" name="Тема Office">
  <a:themeElements>
    <a:clrScheme name="AIRI Summer">
      <a:dk1>
        <a:srgbClr val="000000"/>
      </a:dk1>
      <a:lt1>
        <a:srgbClr val="FFFFFF"/>
      </a:lt1>
      <a:dk2>
        <a:srgbClr val="494949"/>
      </a:dk2>
      <a:lt2>
        <a:srgbClr val="F2EEE9"/>
      </a:lt2>
      <a:accent1>
        <a:srgbClr val="1D51C8"/>
      </a:accent1>
      <a:accent2>
        <a:srgbClr val="988CFF"/>
      </a:accent2>
      <a:accent3>
        <a:srgbClr val="A5A5A5"/>
      </a:accent3>
      <a:accent4>
        <a:srgbClr val="FFD027"/>
      </a:accent4>
      <a:accent5>
        <a:srgbClr val="50C0FF"/>
      </a:accent5>
      <a:accent6>
        <a:srgbClr val="3ED0B9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RI Summ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2026-07-21T04:16:23.5400000Z</dcterms:created>
  <dcterms:modified xsi:type="dcterms:W3CDTF">2026-07-21T04:16:23.5400000Z</dcterms:modified>
</coreProperties>
</file>
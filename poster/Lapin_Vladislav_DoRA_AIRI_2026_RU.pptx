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13a57e0b9a43b7" /><Relationship Type="http://schemas.openxmlformats.org/officeDocument/2006/relationships/extended-properties" Target="/docProps/app.xml" Id="Ree32093d924c4c3c" /><Relationship Type="http://schemas.openxmlformats.org/officeDocument/2006/relationships/officeDocument" Target="/ppt/presentation.xml" Id="R97d185bd3c5e4f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937965e1704a47"/>
  </p:sldMasterIdLst>
  <p:notesMasterIdLst>
    <p:notesMasterId xmlns:r="http://schemas.openxmlformats.org/officeDocument/2006/relationships" r:id="Rc8d9a15888b44ff4"/>
  </p:notesMasterIdLst>
  <p:sldIdLst>
    <p:sldId xmlns:r="http://schemas.openxmlformats.org/officeDocument/2006/relationships" id="256" r:id="R808005dfab5f4d23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a4c63d5ad34686" /><Relationship Type="http://schemas.openxmlformats.org/officeDocument/2006/relationships/slideMaster" Target="/ppt/slideMasters/slideMaster1.xml" Id="Re0937965e1704a47" /><Relationship Type="http://schemas.openxmlformats.org/officeDocument/2006/relationships/notesMaster" Target="/ppt/notesMasters/notesMaster1.xml" Id="Rc8d9a15888b44ff4" /><Relationship Type="http://schemas.openxmlformats.org/officeDocument/2006/relationships/presProps" Target="/ppt/presProps.xml" Id="R494aef6c7b6640c9" /><Relationship Type="http://schemas.openxmlformats.org/officeDocument/2006/relationships/viewProps" Target="/ppt/viewProps.xml" Id="R771429b067b34c36" /><Relationship Type="http://schemas.openxmlformats.org/officeDocument/2006/relationships/tableStyles" Target="/ppt/tableStyles.xml" Id="Raece62c921404dc7" /><Relationship Type="http://schemas.openxmlformats.org/officeDocument/2006/relationships/slide" Target="/ppt/slides/slide1.xml" Id="R808005dfab5f4d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170e5b3dfc45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a1d570d03b419a" /><Relationship Type="http://schemas.openxmlformats.org/officeDocument/2006/relationships/notesMaster" Target="/ppt/notesMasters/notesMaster1.xml" Id="R33f862da5f8c4f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b414de9e34d24" /><Relationship Type="http://schemas.openxmlformats.org/officeDocument/2006/relationships/image" Target="/ppt/media/image.png" Id="Rb5584c6ec6104ca5" /><Relationship Type="http://schemas.openxmlformats.org/officeDocument/2006/relationships/image" Target="/ppt/media/image2.png" Id="R9d50f269c7084e45" /><Relationship Type="http://schemas.openxmlformats.org/officeDocument/2006/relationships/image" Target="/ppt/media/image3.png" Id="R00c3e4ac3c25448d" /><Relationship Type="http://schemas.openxmlformats.org/officeDocument/2006/relationships/image" Target="/ppt/media/image4.png" Id="Rc8785ea0747d4976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584c6ec610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0f269c7084e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c3e4ac3c2544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85ea0747d49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296f13befa48fe" /><Relationship Type="http://schemas.openxmlformats.org/officeDocument/2006/relationships/slideLayout" Target="/ppt/slideLayouts/slideLayout1.xml" Id="Rc5b151b24dc54b2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b151b24dc54b29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00e33dca04182" /><Relationship Type="http://schemas.openxmlformats.org/officeDocument/2006/relationships/hyperlink" Target="https://github.com/Vladislav-Lp/dora-sanity-experiment" TargetMode="External" Id="Raba511205f4b4c00" /><Relationship Type="http://schemas.openxmlformats.org/officeDocument/2006/relationships/image" Target="/ppt/media/image5.png" Id="R1b89b32818df47a5" /><Relationship Type="http://schemas.openxmlformats.org/officeDocument/2006/relationships/image" Target="/ppt/media/image6.png" Id="Reabbc0b71deb4a47" /><Relationship Type="http://schemas.openxmlformats.org/officeDocument/2006/relationships/notesSlide" Target="/ppt/notesSlides/notesSlide1.xml" Id="Rf59bc7f391e24a9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Когда DoRA помогает?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Геометрия, бюджеты параметров и адаптация по малой выборке на удержанных сидах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Летняя школа AIRI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п.п. MLP  ·  +0.92 п.п.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47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 пар MLP и 8/10 пар CNN — в пользу DoRA.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 с поправкой Холма: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 0.382213 (MLP) / 0.158955 (CNN)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. 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 ≠ внешняя репликация.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2. Удержанные сиды → режим данных → представительная способность / оптимизация.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Норма и направление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427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/>
              <a:t>LoRA добавляет низкоранговое обновление BA, связывая направление и норму строк. DoRA задаёт W = m ⊙ (W₀ + BA) / ‖W₀ + BA‖₂: BA управляет направлением, а m — масштабом строк.</a:t>
            </a:r>
          </a:p>
          <a:p xmlns:a="http://schemas.openxmlformats.org/drawingml/2006/main">
            <a:pPr algn="l"/>
            <a:r>
              <a:rPr sz="2400" b="1"/>
              <a:t>Исследовательский вопрос:</a:t>
            </a:r>
            <a:r>
              <a:rPr sz="2400"/>
              <a:t> улучшает ли эта степень свободы целевую адаптацию после честного выбора, контроля бюджета параметров и негативных контролей?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1. LoRA связывает масштаб и направление; DoRA явно моделирует масштаб строк.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Протокол зафиксирован до оценки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 b="1"/>
              <a:t>Валидация (5 пилотных сидов):</a:t>
            </a:r>
            <a:r>
              <a:rPr sz="2400"/>
              <a:t> скорость обучения, ранняя остановка, распределение ранга.</a:t>
            </a:r>
          </a:p>
          <a:p xmlns:a="http://schemas.openxmlformats.org/drawingml/2006/main">
            <a:pPr algn="l"/>
            <a:r>
              <a:rPr sz="2400" b="1"/>
              <a:t>Удержанные сиды:</a:t>
            </a:r>
            <a:r>
              <a:rPr sz="2400"/>
              <a:t> MLP — 20, CNN — 10; один фиксированный чекпоинт на архитектуру; три сдвига; отдельные семьи сравнений Холма m=9/6/3 (последняя — описательная).</a:t>
            </a:r>
          </a:p>
          <a:p xmlns:a="http://schemas.openxmlformats.org/drawingml/2006/main">
            <a:pPr algn="l"/>
            <a:r>
              <a:rPr sz="2400" b="1"/>
              <a:t>Базовые варианты:</a:t>
            </a:r>
            <a:r>
              <a:rPr sz="2400"/>
              <a:t> замороженная модель, только величина, LoRA, LoRA+ (B/A=16), согласованная по бюджету LoRA, DoRA в бюджете LoRA, полное дообучение.</a:t>
            </a:r>
          </a:p>
          <a:p xmlns:a="http://schemas.openxmlformats.org/drawingml/2006/main">
            <a:pPr algn="l"/>
            <a:r>
              <a:rPr sz="2400" b="1"/>
              <a:t>Устойчивость:</a:t>
            </a:r>
            <a:r>
              <a:rPr sz="2400"/>
              <a:t> 4 вложенных объёма данных; 10 синтетических целей × 5 инициализаций.</a:t>
            </a:r>
          </a:p>
          <a:p xmlns:a="http://schemas.openxmlformats.org/drawingml/2006/main">
            <a:pPr algn="l"/>
            <a:r>
              <a:rPr sz="2400" b="1"/>
              <a:t>1 960 строк; 1 840 задач обучения/оптимизации.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Негативные контроли: ограничения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440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 b="1"/>
              <a:t>Контраст (MLP):</a:t>
            </a:r>
            <a:r>
              <a:rPr sz="2400"/>
              <a:t> адаптация только величины 96.90% &gt; DoRA 95.18%.</a:t>
            </a:r>
          </a:p>
          <a:p xmlns:a="http://schemas.openxmlformats.org/drawingml/2006/main">
            <a:pPr algn="l"/>
            <a:r>
              <a:rPr sz="2400" b="1"/>
              <a:t>Поворот (MLP):</a:t>
            </a:r>
            <a:r>
              <a:rPr sz="2400"/>
              <a:t> согласованная по бюджету параметров LoRA = DoRA = 93.89%.</a:t>
            </a:r>
          </a:p>
          <a:p xmlns:a="http://schemas.openxmlformats.org/drawingml/2006/main">
            <a:pPr algn="l"/>
            <a:r>
              <a:rPr sz="2400" b="1"/>
              <a:t>Смешанный сдвиг (MLP):</a:t>
            </a:r>
            <a:r>
              <a:rPr sz="2400"/>
              <a:t> согласование бюджета параметров снижает разрыв DoRA до +0.53 п.п.; ДИ пересекает ноль.</a:t>
            </a:r>
          </a:p>
          <a:p xmlns:a="http://schemas.openxmlformats.org/drawingml/2006/main">
            <a:pPr algn="l"/>
            <a:r>
              <a:rPr sz="2400" b="1"/>
              <a:t>Рамки:</a:t>
            </a:r>
            <a:r>
              <a:rPr sz="2400"/>
              <a:t> Digits; один фиксированный предобученный чекпоинт на архитектуру; одно целевое разбиение, уже использованное на разведочном этапе. Это контролируемое исследование механизма, не LLM-бенчмарк.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Что подтверждают проверки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4162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Смешанный сдвиг:</a:t>
            </a:r>
            <a:r>
              <a:rPr sz="2400"/>
              <a:t> DoRA достигает 75.22% (MLP) и 80.53% (CNN), близко к полному дообучению (75.17%, 80.67%), при ≈12–15% обучаемых параметров.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Усиленные базовые варианты:</a:t>
            </a:r>
            <a:r>
              <a:rPr sz="2400"/>
              <a:t> согласованная по бюджету LoRA оставляет +0.53 п.п.; DoRA−LoRA+: p Холма=0.050935; DoRA в бюджете LoRA: +0.82 п.п. (вторичная семья: p Холма=0.347089).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Синтетическая диагностика (γ=0.8):</a:t>
            </a:r>
            <a:r>
              <a:rPr sz="2400"/>
              <a:t> DoRA точно представляет цель; 44/50 запусков достигают ошибки &lt;10^-3; средняя ошибка оракула LoRA — 0.289.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Следующий тест:</a:t>
            </a:r>
            <a:r>
              <a:rPr sz="2400"/>
              <a:t> неоднородный дрейф норм строк с контролями LoRA и адаптации только величины.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СМЕШАННЫЙ СДВИГ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чекпоинтах; не внешняя репликация.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Код, исходные результаты, ноутбук и отчёт → приватная ссылка для рецензирования; доступ по запросу.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Статистический протокол и исходные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aba511205f4b4c00"/>
              </a:rPr>
              <a:t>ПРИВАТНАЯ ССЫЛКА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579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585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86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87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независимый масштаб строк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Одинаковый ранг r; DoRA добавляет d_out обучаемых параметров величины.</a:t>
            </a:r>
          </a:p>
        </p:txBody>
      </p:sp>
      <p:pic>
        <p:nvPicPr>
          <p:cNvPr id="5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9b32818df47a5"/>
          <a:stretch xmlns:a="http://schemas.openxmlformats.org/drawingml/2006/main"/>
        </p:blipFill>
        <p:spPr>
          <a:xfrm xmlns:a="http://schemas.openxmlformats.org/drawingml/2006/main" flipH="0" flipV="0">
            <a:off x="11540395" y="9573464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5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bc0b71deb4a47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2026-07-21T03:44:16.2710000Z</dcterms:created>
  <dcterms:modified xsi:type="dcterms:W3CDTF">2026-07-21T03:44:16.2710000Z</dcterms:modified>
</coreProperties>
</file>
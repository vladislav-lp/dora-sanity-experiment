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8c09433575496b" /><Relationship Type="http://schemas.openxmlformats.org/officeDocument/2006/relationships/extended-properties" Target="/docProps/app.xml" Id="Rfaab05f5aa1b49d7" /><Relationship Type="http://schemas.openxmlformats.org/officeDocument/2006/relationships/officeDocument" Target="/ppt/presentation.xml" Id="Rd394bb8d5e2c4b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ce204c482a4c46"/>
  </p:sldMasterIdLst>
  <p:notesMasterIdLst>
    <p:notesMasterId xmlns:r="http://schemas.openxmlformats.org/officeDocument/2006/relationships" r:id="R199c155464f34c90"/>
  </p:notesMasterIdLst>
  <p:sldIdLst>
    <p:sldId xmlns:r="http://schemas.openxmlformats.org/officeDocument/2006/relationships" id="256" r:id="Re31bef5004af48cf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5ad6939b7f46ab" /><Relationship Type="http://schemas.openxmlformats.org/officeDocument/2006/relationships/slideMaster" Target="/ppt/slideMasters/slideMaster1.xml" Id="R5bce204c482a4c46" /><Relationship Type="http://schemas.openxmlformats.org/officeDocument/2006/relationships/notesMaster" Target="/ppt/notesMasters/notesMaster1.xml" Id="R199c155464f34c90" /><Relationship Type="http://schemas.openxmlformats.org/officeDocument/2006/relationships/presProps" Target="/ppt/presProps.xml" Id="Ra5a87d1154674317" /><Relationship Type="http://schemas.openxmlformats.org/officeDocument/2006/relationships/viewProps" Target="/ppt/viewProps.xml" Id="R133a5205a9be467a" /><Relationship Type="http://schemas.openxmlformats.org/officeDocument/2006/relationships/tableStyles" Target="/ppt/tableStyles.xml" Id="Re3f3c758700b49cc" /><Relationship Type="http://schemas.openxmlformats.org/officeDocument/2006/relationships/slide" Target="/ppt/slides/slide1.xml" Id="Re31bef5004af48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055f4f0f2040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3e4d6657664f8b" /><Relationship Type="http://schemas.openxmlformats.org/officeDocument/2006/relationships/notesMaster" Target="/ppt/notesMasters/notesMaster1.xml" Id="Rb8509b00b5144c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5c9cc1fc444f0" /><Relationship Type="http://schemas.openxmlformats.org/officeDocument/2006/relationships/image" Target="/ppt/media/image.png" Id="R86ff61c087cc495a" /><Relationship Type="http://schemas.openxmlformats.org/officeDocument/2006/relationships/image" Target="/ppt/media/image2.png" Id="Rf6b72a32821b497e" /><Relationship Type="http://schemas.openxmlformats.org/officeDocument/2006/relationships/image" Target="/ppt/media/image3.png" Id="Rdd7874fbeaf14b07" /><Relationship Type="http://schemas.openxmlformats.org/officeDocument/2006/relationships/image" Target="/ppt/media/image4.png" Id="R43a260f876bb4d15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f61c087cc49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72a32821b49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874fbeaf1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260f876bb4d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5d6fbd0a224fff" /><Relationship Type="http://schemas.openxmlformats.org/officeDocument/2006/relationships/slideLayout" Target="/ppt/slideLayouts/slideLayout1.xml" Id="Rf741244d75ca493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41244d75ca4936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254f5c8f64350" /><Relationship Type="http://schemas.openxmlformats.org/officeDocument/2006/relationships/hyperlink" Target="https://github.com/Vladislav-Lp/dora-sanity-experiment" TargetMode="External" Id="R5b57fb4092694945" /><Relationship Type="http://schemas.openxmlformats.org/officeDocument/2006/relationships/image" Target="/ppt/media/image5.png" Id="Re90ecb40dd8549ea" /><Relationship Type="http://schemas.openxmlformats.org/officeDocument/2006/relationships/image" Target="/ppt/media/image6.png" Id="R7201ef6f47354cdb" /><Relationship Type="http://schemas.openxmlformats.org/officeDocument/2006/relationships/notesSlide" Target="/ppt/notesSlides/notesSlide1.xml" Id="R66da33f34be443f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адаптация по малой выборке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47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 пар MLP и 8/10 пар CNN — в пользу DoRA.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 с поправкой Холма: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 0.382213 (MLP) / 0.158955 (CNN)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. 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 ≠ внешняя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Норма и направление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427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LoRA добавляет низкоранговое обновление BA, связывая направление и норму строк. DoRA задаёт W = m ⊙ (W₀ + BA) / ‖W₀ + BA‖₂: BA управляет направлением, а m — масштабом строк.</a:t>
            </a:r>
          </a:p>
          <a:p xmlns:a="http://schemas.openxmlformats.org/drawingml/2006/main">
            <a:pPr algn="l"/>
            <a:r>
              <a:rPr sz="2400" b="1"/>
              <a:t>Исследовательский вопрос:</a:t>
            </a:r>
            <a:r>
              <a:rPr sz="2400"/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Протокол зафиксирован до оценки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Валидация (5 пилотных сидов):</a:t>
            </a:r>
            <a:r>
              <a:rPr sz="2400"/>
              <a:t> скорость обучения, ранняя остановка, распределение ранга.</a:t>
            </a:r>
          </a:p>
          <a:p xmlns:a="http://schemas.openxmlformats.org/drawingml/2006/main">
            <a:pPr algn="l"/>
            <a:r>
              <a:rPr sz="2400" b="1"/>
              <a:t>Удержанные сиды:</a:t>
            </a:r>
            <a:r>
              <a:rPr sz="2400"/>
              <a:t> MLP — 20, CNN — 10; один фиксированный чекпоинт на архитектуру; три сдвига; отдельные семьи сравнений Холма m=9/6/3 (последняя — описательная).</a:t>
            </a:r>
          </a:p>
          <a:p xmlns:a="http://schemas.openxmlformats.org/drawingml/2006/main">
            <a:pPr algn="l"/>
            <a:r>
              <a:rPr sz="2400" b="1"/>
              <a:t>Базовые варианты:</a:t>
            </a:r>
            <a:r>
              <a:rPr sz="2400"/>
              <a:t> замороженная модель, только величина, LoRA, LoRA+ (B/A=16), согласованная по бюджету LoRA, DoRA в бюджете LoRA, полное дообучение.</a:t>
            </a:r>
          </a:p>
          <a:p xmlns:a="http://schemas.openxmlformats.org/drawingml/2006/main">
            <a:pPr algn="l"/>
            <a:r>
              <a:rPr sz="2400" b="1"/>
              <a:t>Устойчивость:</a:t>
            </a:r>
            <a:r>
              <a:rPr sz="2400"/>
              <a:t> 4 вложенных объёма данных; 10 синтетических целей × 5 инициализаций.</a:t>
            </a:r>
          </a:p>
          <a:p xmlns:a="http://schemas.openxmlformats.org/drawingml/2006/main">
            <a:pPr algn="l"/>
            <a:r>
              <a:rPr sz="2400" b="1"/>
              <a:t>1 960 строк; 1 840 задач обучения/оптимизации.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Негативные контроли: ограничения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440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Контраст (MLP):</a:t>
            </a:r>
            <a:r>
              <a:rPr sz="2400"/>
              <a:t> адаптация только величины 96.90% &gt; DoRA 95.18%.</a:t>
            </a:r>
          </a:p>
          <a:p xmlns:a="http://schemas.openxmlformats.org/drawingml/2006/main">
            <a:pPr algn="l"/>
            <a:r>
              <a:rPr sz="2400" b="1"/>
              <a:t>Поворот (MLP):</a:t>
            </a:r>
            <a:r>
              <a:rPr sz="2400"/>
              <a:t> согласованная по бюджету параметров LoRA = DoRA = 93.89%.</a:t>
            </a:r>
          </a:p>
          <a:p xmlns:a="http://schemas.openxmlformats.org/drawingml/2006/main">
            <a:pPr algn="l"/>
            <a:r>
              <a:rPr sz="2400" b="1"/>
              <a:t>Смешанный сдвиг (MLP):</a:t>
            </a:r>
            <a:r>
              <a:rPr sz="2400"/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algn="l"/>
            <a:r>
              <a:rPr sz="2400" b="1"/>
              <a:t>Рамки:</a:t>
            </a:r>
            <a:r>
              <a:rPr sz="2400"/>
              <a:t> Digits; один фиксированный предобученный чекпоинт на архитектуру; одно целевое разбиение, уже использованное на разведочном этапе. Это контролируемое исследование механизма, не LLM-бенчмарк.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Что подтверждают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4162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Смешанный сдвиг:</a:t>
            </a:r>
            <a:r>
              <a:rPr sz="2400"/>
              <a:t> DoRA достигает 75.22% (MLP) и 80.53% (CNN), близко к полному дообучению (75.17%, 80.67%), при ≈12–15% обучаемых параметров.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Усиленные базовые варианты:</a:t>
            </a:r>
            <a:r>
              <a:rPr sz="2400"/>
              <a:t> согласованная по бюджету LoRA оставляет +0.53 п.п.; DoRA−LoRA+: p Холма=0.050935; DoRA в бюджете LoRA: +0.82 п.п. (вторичная семья: p Холма=0.347089).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Синтетическая диагностика (γ=0.8):</a:t>
            </a:r>
            <a:r>
              <a:rPr sz="2400"/>
              <a:t> DoRA точно представляет цель; 44/50 запусков достигают ошибки &lt;10^-3; средняя ошибка оракула LoRA — 0.289.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Следующий тест:</a:t>
            </a:r>
            <a:r>
              <a:rPr sz="2400"/>
              <a:t> неоднородный дрейф норм строк с контролями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чекпоинтах; не внешняя репликация.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5b57fb4092694945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579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585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6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7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5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ecb40dd8549ea"/>
          <a:stretch xmlns:a="http://schemas.openxmlformats.org/drawingml/2006/main"/>
        </p:blipFill>
        <p:spPr>
          <a:xfrm xmlns:a="http://schemas.openxmlformats.org/drawingml/2006/main" flipH="0" flipV="0">
            <a:off x="11540395" y="9573464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5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1ef6f47354cdb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2026-07-21T03:56:32.2340000Z</dcterms:created>
  <dcterms:modified xsi:type="dcterms:W3CDTF">2026-07-21T03:56:32.2340000Z</dcterms:modified>
</coreProperties>
</file>
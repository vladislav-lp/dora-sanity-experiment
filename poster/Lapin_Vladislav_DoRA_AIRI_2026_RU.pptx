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4ba74c6b6846a0" /><Relationship Type="http://schemas.openxmlformats.org/officeDocument/2006/relationships/extended-properties" Target="/docProps/app.xml" Id="Re95d5ca0901d46bb" /><Relationship Type="http://schemas.openxmlformats.org/officeDocument/2006/relationships/officeDocument" Target="/ppt/presentation.xml" Id="Raafc01a1c6d644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fdd3811d1342e7"/>
  </p:sldMasterIdLst>
  <p:notesMasterIdLst>
    <p:notesMasterId xmlns:r="http://schemas.openxmlformats.org/officeDocument/2006/relationships" r:id="R958b41af487e48c9"/>
  </p:notesMasterIdLst>
  <p:sldIdLst>
    <p:sldId xmlns:r="http://schemas.openxmlformats.org/officeDocument/2006/relationships" id="256" r:id="Raad06fd4d96d4f58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6352500de44335" /><Relationship Type="http://schemas.openxmlformats.org/officeDocument/2006/relationships/slideMaster" Target="/ppt/slideMasters/slideMaster1.xml" Id="R26fdd3811d1342e7" /><Relationship Type="http://schemas.openxmlformats.org/officeDocument/2006/relationships/notesMaster" Target="/ppt/notesMasters/notesMaster1.xml" Id="R958b41af487e48c9" /><Relationship Type="http://schemas.openxmlformats.org/officeDocument/2006/relationships/presProps" Target="/ppt/presProps.xml" Id="R8bca8efa15694e08" /><Relationship Type="http://schemas.openxmlformats.org/officeDocument/2006/relationships/viewProps" Target="/ppt/viewProps.xml" Id="R7afa585ab89540a2" /><Relationship Type="http://schemas.openxmlformats.org/officeDocument/2006/relationships/tableStyles" Target="/ppt/tableStyles.xml" Id="R0cbadf600c824d1e" /><Relationship Type="http://schemas.openxmlformats.org/officeDocument/2006/relationships/slide" Target="/ppt/slides/slide1.xml" Id="Raad06fd4d96d4f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42f9e4fc864d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2e53c08d17468e" /><Relationship Type="http://schemas.openxmlformats.org/officeDocument/2006/relationships/notesMaster" Target="/ppt/notesMasters/notesMaster1.xml" Id="R7a646f40ad9142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b8fa71336c4ab1" /><Relationship Type="http://schemas.openxmlformats.org/officeDocument/2006/relationships/image" Target="/ppt/media/image.png" Id="R1bbf811d77a54726" /><Relationship Type="http://schemas.openxmlformats.org/officeDocument/2006/relationships/image" Target="/ppt/media/image2.png" Id="R86837004193b4ab1" /><Relationship Type="http://schemas.openxmlformats.org/officeDocument/2006/relationships/image" Target="/ppt/media/image3.png" Id="Rad80de65a3344e93" /><Relationship Type="http://schemas.openxmlformats.org/officeDocument/2006/relationships/image" Target="/ppt/media/image4.png" Id="R69b09ebfff0d47e3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f811d77a547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837004193b4a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80de65a3344e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b09ebfff0d47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8711aac5ad4d45" /><Relationship Type="http://schemas.openxmlformats.org/officeDocument/2006/relationships/slideLayout" Target="/ppt/slideLayouts/slideLayout1.xml" Id="Ra77e0905e3f44cc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7e0905e3f44cc6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8c276d8964cf1" /><Relationship Type="http://schemas.openxmlformats.org/officeDocument/2006/relationships/hyperlink" Target="https://github.com/Vladislav-Lp/dora-sanity-experiment" TargetMode="External" Id="Re0b1fd3dd290443d" /><Relationship Type="http://schemas.openxmlformats.org/officeDocument/2006/relationships/image" Target="/ppt/media/image5.png" Id="R471a8c1264c64e06" /><Relationship Type="http://schemas.openxmlformats.org/officeDocument/2006/relationships/image" Target="/ppt/media/image6.png" Id="R4f9eb7324a894056" /><Relationship Type="http://schemas.openxmlformats.org/officeDocument/2006/relationships/notesSlide" Target="/ppt/notesSlides/notesSlide1.xml" Id="R994576e25b55404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08" y="2133600"/>
            <a:ext cx="18360009" cy="1695450"/>
          </a:xfr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Когда DoRA помогает?</a:t>
            </a:r>
          </a:p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Геометрия, бюджеты параметров и few-shot-адаптация на удержанных сидах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170" y="4171950"/>
            <a:ext cx="14099286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5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Vladislav Lapin  ·  MIPT FPMI / AI360  ·  Летняя школа AIRI 2026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7029450"/>
            <a:ext cx="8328851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7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+1.06 п.п. MLP  ·  +0.92 п.п. CNN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7848600"/>
            <a:ext cx="8328851" cy="1190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15/20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пар MLP и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8/10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пар CNN отдали преимущество DoRA.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Скорректированные методом Холма p-значения: 0.382213 (MLP) / 0.158955 (CNN)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: внутреннее свидетельство на фиксированных чекпоинтах, а не внешняя (независимая) репликация.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1878925"/>
            <a:ext cx="8328851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2. Удержанные сиды → режим данных → представительная способность / оптимизация.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84" y="65722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Зачем отделять величину от направления?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7400925"/>
            <a:ext cx="8328851" cy="3752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 добавляет низкоранговое обновление BA, связывая направление и норму строк. DoRA задаёт W = m ⊙ (W₀ + BA) / ‖W₀ + BA‖₂, поэтому BA управляет направлением, а m — масштабом строк.</a:t>
            </a:r>
          </a:p>
          <a:p xmlns:a="http://schemas.openxmlformats.org/drawingml/2006/main">
            <a:pPr marL="24" indent="-14" algn="l">
              <a:lnSpc>
                <a:spcPct val="100000"/>
              </a:lnSpc>
              <a:spcAft>
                <a:spcPts val="7"/>
              </a:spcAft>
              <a:buNone/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Исследовательский вопрос:</a:t>
            </a: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улучшает ли эта степень свободы целевую адаптацию после честного выбора, контроля бюджета параметров и негативных контролей?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106900"/>
            <a:ext cx="8328851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1. LoRA связывает масштаб и направление; DoRA явно моделирует масштаб строк.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859375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Протокол зафиксирован до оценки на удержанных сидах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8630900"/>
            <a:ext cx="8328851" cy="3771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Только пилотный этап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(валидация): скорость обучения, ранняя остановка и распределение ранга.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Удержанные сиды: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20 сидов адаптации MLP + 10 CNN; по одному фиксированному чекпоинту; 3 сдвига;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семьи сравнений (Холм): m=9 / 6 / 3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(вторичная — описательная).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Базовые варианты: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замороженная модель, адаптация только величины, LoRA,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LoRA+ (фикс. B/A=16),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согласованная по бюджету параметров LoRA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,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DoRA в рамках бюджета параметров LoRA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и полное дообучение.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Устойчивость: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4 вложенных режима данных; 10 синтетических целей × 5 инициализаций.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1,960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сохранённых строк;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1,840 задач обучения / оптимизации.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27647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Негативные контроли не позволяют представить только победы DoRA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23574375"/>
            <a:ext cx="8328851" cy="3829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Контраст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адаптация только величины 96.90% &gt; DoRA 95.18%.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Поворот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согласованная по бюджету параметров LoRA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= DoRA = 93.89%.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Смешанный сдвиг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согласование бюджета параметров снижает разрыв DoRA до +0.53 п.п.; ДИ пересекает ноль.</a:t>
            </a:r>
          </a:p>
          <a:p xmlns:a="http://schemas.openxmlformats.org/drawingml/2006/main">
            <a:pPr marL="24" indent="-14" algn="l">
              <a:lnSpc>
                <a:spcPct val="98000"/>
              </a:lnSpc>
              <a:spcAft>
                <a:spcPts val="7"/>
              </a:spcAft>
              <a:buNone/>
              <a:defRPr sz="23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Рамки: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Digits, одна фиксированная предобученная база на архитектуру и одно целевое разбиение, уже использованное в разведочной работе. Это контролируемое исследование механизма, а не бенчмарк уровня больших языковых моделей (LLM).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23241000"/>
            <a:ext cx="8328851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Что всё же подтверждают контрольные проверки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3955375"/>
            <a:ext cx="8328851" cy="3495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Смешанный сдвиг: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DoRA достигает 75.22% (MLP) и 80.53% (CNN), близко к полному дообучению (75.17%, 80.67%), при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≈12–15%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обучаемых параметров.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Более справедливые базовые варианты: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согласованная по бюджету параметров LoRA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оставляет +0.53 п.п.;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для DoRA−LoRA+ p с поправкой Холма = 0.050935 (&gt; 0.05)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;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DoRA в рамках бюджета параметров LoRA: +0.82 п.п.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(p с поправкой Холма во вторичной семье сравнений = 0.347089)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Синтетическая диагностика (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γ=0.8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):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DoRA представляет цель точно; 44/50 запусков достигают ошибки &lt;10^-3.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Средняя ошибка оракула LoRA — 0.289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0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Следующий тест: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неоднородный дрейф норм строк с сохранением контролей LoRA и адаптации только величины.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6572250"/>
            <a:ext cx="8328851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172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СМЕШАННЫЙ СДВИГ: ОЦЕНКИ НА УДЕРЖАННЫХ СИДАХ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22288500"/>
            <a:ext cx="8328851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5000"/>
              </a:lnSpc>
              <a:spcAft>
                <a:spcPts val="7"/>
              </a:spcAft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Целевая тестовая выборка оценивалась по протоколу, зафиксированному после выбора по валидации. Внутреннее подтверждение на фиксированных чекпоинтах; точные ДИ, исходные/скорректированные p и бюджеты ранга — в репозитории.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4600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Код, исходные результаты, ноутбук и отчёт → приватная ссылка для рецензирования; доступ по запросу.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021151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[3] Hayou et al. LoRA+. ICML 2024.     Статистический протокол и исходные CSV: GitHub.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85456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[1] Hu et al. LoRA. ICLR 2022.     [2] Liu et al. DoRA. ICML 2024.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6050" y="29870400"/>
            <a:ext cx="23050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27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A80"/>
                </a:solidFill>
                <a:latin typeface="Arial"/>
                <a:ea typeface="Arial"/>
                <a:cs typeface="Arial"/>
                <a:hlinkClick xmlns:r="http://schemas.openxmlformats.org/officeDocument/2006/relationships" r:id="Re0b1fd3dd290443d"/>
              </a:rPr>
              <a:t>ПРИВАТНАЯ ССЫЛКА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497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498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503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04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05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направление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независимый масштаб строк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Одинаковый ранг r; DoRA добавляет d_out обучаемых параметров величины.</a:t>
            </a:r>
          </a:p>
        </p:txBody>
      </p:sp>
      <p:pic>
        <p:nvPicPr>
          <p:cNvPr id="5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a8c1264c64e06"/>
          <a:stretch xmlns:a="http://schemas.openxmlformats.org/drawingml/2006/main"/>
        </p:blipFill>
        <p:spPr>
          <a:xfrm xmlns:a="http://schemas.openxmlformats.org/drawingml/2006/main" flipH="0" flipV="0">
            <a:off x="11540395" y="9240089"/>
            <a:ext cx="8328851" cy="12552272"/>
          </a:xfrm>
          <a:prstGeom xmlns:a="http://schemas.openxmlformats.org/drawingml/2006/main" prst="rect">
            <a:avLst/>
          </a:prstGeom>
        </p:spPr>
      </p:pic>
      <p:pic>
        <p:nvPicPr>
          <p:cNvPr id="5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eb7324a894056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2026-07-20T22:26:08.4880000Z</dcterms:created>
  <dcterms:modified xsi:type="dcterms:W3CDTF">2026-07-20T22:26:08.4880000Z</dcterms:modified>
</coreProperties>
</file>
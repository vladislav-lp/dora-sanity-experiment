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fe979e264b4b61" /><Relationship Type="http://schemas.openxmlformats.org/officeDocument/2006/relationships/extended-properties" Target="/docProps/app.xml" Id="Redc2b4c2f1cd4127" /><Relationship Type="http://schemas.openxmlformats.org/officeDocument/2006/relationships/officeDocument" Target="/ppt/presentation.xml" Id="R8c717802854f4c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b77f8f1c64782"/>
  </p:sldMasterIdLst>
  <p:notesMasterIdLst>
    <p:notesMasterId xmlns:r="http://schemas.openxmlformats.org/officeDocument/2006/relationships" r:id="R446453cbcd7d430b"/>
  </p:notesMasterIdLst>
  <p:sldIdLst>
    <p:sldId xmlns:r="http://schemas.openxmlformats.org/officeDocument/2006/relationships" id="256" r:id="Rf18ade1380da4d98"/>
  </p:sldIdLst>
  <p:sldSz cx="21383625" cy="3027521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e69da7b98439b" /><Relationship Type="http://schemas.openxmlformats.org/officeDocument/2006/relationships/slideMaster" Target="/ppt/slideMasters/slideMaster1.xml" Id="R7f4b77f8f1c64782" /><Relationship Type="http://schemas.openxmlformats.org/officeDocument/2006/relationships/notesMaster" Target="/ppt/notesMasters/notesMaster1.xml" Id="R446453cbcd7d430b" /><Relationship Type="http://schemas.openxmlformats.org/officeDocument/2006/relationships/presProps" Target="/ppt/presProps.xml" Id="R14ccd67aa8774883" /><Relationship Type="http://schemas.openxmlformats.org/officeDocument/2006/relationships/viewProps" Target="/ppt/viewProps.xml" Id="R09491f019f454c10" /><Relationship Type="http://schemas.openxmlformats.org/officeDocument/2006/relationships/tableStyles" Target="/ppt/tableStyles.xml" Id="R650211b85113434e" /><Relationship Type="http://schemas.openxmlformats.org/officeDocument/2006/relationships/slide" Target="/ppt/slides/slide1.xml" Id="Rf18ade1380da4d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cd898195934c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20471a4a7a4010" /><Relationship Type="http://schemas.openxmlformats.org/officeDocument/2006/relationships/notesMaster" Target="/ppt/notesMasters/notesMaster1.xml" Id="R57594d67c93a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3bfe1f9954150" /><Relationship Type="http://schemas.openxmlformats.org/officeDocument/2006/relationships/image" Target="/ppt/media/image.png" Id="R421984af42414f04" /><Relationship Type="http://schemas.openxmlformats.org/officeDocument/2006/relationships/image" Target="/ppt/media/image2.png" Id="R2f92a9c06d084032" /><Relationship Type="http://schemas.openxmlformats.org/officeDocument/2006/relationships/image" Target="/ppt/media/image3.png" Id="Red3accfc0df54936" /><Relationship Type="http://schemas.openxmlformats.org/officeDocument/2006/relationships/image" Target="/ppt/media/image4.png" Id="Rb0d25e7f6895482b" /></Relationships>
</file>

<file path=ppt/slideLayouts/slideLayout1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984af42414f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51886" y="1138545"/>
            <a:ext cx="3919926" cy="340496"/>
          </a:xfrm>
          <a:prstGeom xmlns:a="http://schemas.openxmlformats.org/drawingml/2006/main" prst="rect">
            <a:avLst/>
          </a:prstGeom>
        </p:spPr>
      </p:pic>
      <p:pic>
        <p:nvPicPr>
          <p:cNvPr id="2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2a9c06d0840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5478" y="555676"/>
            <a:ext cx="5917195" cy="105749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8F8C1-3D82-44B2-88E6-2946F096D0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11812" y="2430030"/>
            <a:ext cx="18360000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lvl1pPr algn="ctr">
              <a:buNone/>
              <a:defRPr sz="8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Название </a:t>
            </a:r>
          </a:p>
        </p:txBody>
      </p:sp>
      <p:pic>
        <p:nvPicPr>
          <p:cNvPr id="4" name="Рисунок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accfc0df5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128" y="28581063"/>
            <a:ext cx="2302644" cy="627066"/>
          </a:xfrm>
          <a:prstGeom xmlns:a="http://schemas.openxmlformats.org/drawingml/2006/main" prst="rect">
            <a:avLst/>
          </a:prstGeom>
        </p:spPr>
      </p:pic>
      <p:pic>
        <p:nvPicPr>
          <p:cNvPr id="5" name="Рисунок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25e7f689548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56286" y="28609881"/>
            <a:ext cx="2265908" cy="542369"/>
          </a:xfrm>
          <a:prstGeom xmlns:a="http://schemas.openxmlformats.org/drawingml/2006/main" prst="rect">
            <a:avLst/>
          </a:prstGeom>
        </p:spPr>
      </p:pic>
      <p:sp>
        <p:nvSpPr>
          <p:cNvPr id="6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911521AD-ED2F-4070-A5C9-069811C9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377" y="29467207"/>
            <a:ext cx="3024450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Генеральный партнёр</a:t>
            </a:r>
          </a:p>
        </p:txBody>
      </p:sp>
      <p:sp>
        <p:nvSpPr>
          <p:cNvPr id="63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0370A2-F3C5-4982-864E-FD69C694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9662" y="29467207"/>
            <a:ext cx="297619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Партнёр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c83709709e4090" /><Relationship Type="http://schemas.openxmlformats.org/officeDocument/2006/relationships/slideLayout" Target="/ppt/slideLayouts/slideLayout1.xml" Id="R90933dc44de84e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33dc44de84e59"/>
  </p:sldLayoutIdLst>
  <p:txStyles>
    <p:titleStyle>
      <a:lvl1pPr xmlns:a="http://schemas.openxmlformats.org/drawingml/2006/main" algn="l">
        <a:lnSpc>
          <a:spcPct val="90000"/>
        </a:lnSpc>
        <a:buNone/>
        <a:defRPr sz="10289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534581" indent="-534581" algn="l">
        <a:lnSpc>
          <a:spcPct val="90000"/>
        </a:lnSpc>
        <a:spcBef>
          <a:spcPts val="2339"/>
        </a:spcBef>
        <a:buChar char="•"/>
        <a:defRPr sz="6548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03743" indent="-534581" algn="l">
        <a:lnSpc>
          <a:spcPct val="90000"/>
        </a:lnSpc>
        <a:spcBef>
          <a:spcPts val="1169"/>
        </a:spcBef>
        <a:buChar char="•"/>
        <a:defRPr sz="5612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672906" indent="-534581" algn="l">
        <a:lnSpc>
          <a:spcPct val="90000"/>
        </a:lnSpc>
        <a:spcBef>
          <a:spcPts val="1169"/>
        </a:spcBef>
        <a:buChar char="•"/>
        <a:defRPr sz="4677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742068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811230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880392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949554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8018717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9087879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69162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138324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207487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276649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345811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414973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7484135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8553298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7398a6ed84d2e" /><Relationship Type="http://schemas.openxmlformats.org/officeDocument/2006/relationships/hyperlink" Target="https://github.com/Vladislav-Lp/dora-sanity-experiment" TargetMode="External" Id="R6e559c8806e14963" /><Relationship Type="http://schemas.openxmlformats.org/officeDocument/2006/relationships/image" Target="/ppt/media/image5.png" Id="R3fcd92a128714951" /><Relationship Type="http://schemas.openxmlformats.org/officeDocument/2006/relationships/image" Target="/ppt/media/image6.png" Id="Rb45cad69b5c1488c" /><Relationship Type="http://schemas.openxmlformats.org/officeDocument/2006/relationships/notesSlide" Target="/ppt/notesSlides/notesSlide1.xml" Id="R6ba49ac2bbcc42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35F437BD-98F8-7B42-921D-B072EC2BB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1808" y="2133600"/>
            <a:ext cx="18360009" cy="1695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4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Когда DoRA помогает?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4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Геометрия, бюджеты параметров и few-shot-адаптация на удержанных сидах</a:t>
            </a:r>
          </a:p>
        </p:txBody>
      </p:sp>
      <p:sp>
        <p:nvSpPr>
          <p:cNvPr id="9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F964CF7-1659-7147-B572-E13A52A0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170" y="4171950"/>
            <a:ext cx="1409928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255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Vladislav Lapin  ·  MIPT FPMI / AI360  ·  Летняя школа AIRI 2026</a:t>
            </a:r>
          </a:p>
        </p:txBody>
      </p:sp>
      <p:sp>
        <p:nvSpPr>
          <p:cNvPr id="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2F7037B-A9E7-804C-A32F-F530F150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95" y="7029450"/>
            <a:ext cx="8328851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8A80"/>
                </a:solidFill>
                <a:latin typeface="Arial"/>
                <a:ea typeface="Arial"/>
                <a:cs typeface="Arial"/>
              </a:rPr>
              <a:t>+1.06 п.п. MLP  ·  +0.92 п.п. CNN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EFEBC4B-1CC1-914C-ACE6-C9FD0FDF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82" y="15969491"/>
            <a:ext cx="8328874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17D5A267-4A77-C249-B8B6-14811E2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966" y="7848600"/>
            <a:ext cx="8328851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15/20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пар MLP и </a:t>
            </a: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8/10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пар CNN отдали преимущество DoRA. </a:t>
            </a: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Скорректированные методом Холма p-значения: 0.382213 (MLP) / 0.158955 (CNN)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: внутреннее свидетельство на фиксированных чекпоинтах, а не внешняя (независимая) репликация.</a:t>
            </a:r>
          </a:p>
        </p:txBody>
      </p:sp>
      <p:sp>
        <p:nvSpPr>
          <p:cNvPr id="11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EDBD61F-81A5-394C-888C-55CD3C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95" y="21878925"/>
            <a:ext cx="8328851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Рисунок 2. Удержанные сиды → режим данных → представительная способность / оптимизация.</a:t>
            </a:r>
          </a:p>
        </p:txBody>
      </p:sp>
      <p:sp>
        <p:nvSpPr>
          <p:cNvPr id="1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777D2B1B-83DE-4E47-8FA4-305FD5D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4" y="6572250"/>
            <a:ext cx="8328851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Зачем отделять величину от направления?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F2C556B-62C1-8B47-B96E-BAAD9575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2" y="12353589"/>
            <a:ext cx="8328874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E7D44248-8FEB-1D4C-88DA-BAC694E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7400925"/>
            <a:ext cx="8328851" cy="3752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1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LoRA добавляет низкоранговое обновление BA, связывая направление и норму строк. DoRA задаёт W = m ⊙ (W₀ + BA) / ‖W₀ + BA‖₂, поэтому BA управляет направлением, а m — масштабом строк.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7"/>
              </a:spcAft>
              <a:buNone/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1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Исследовательский вопрос:</a:t>
            </a:r>
            <a:r>
              <a:rPr sz="21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улучшает ли эта степень свободы целевую адаптацию после честного выбора, контроля бюджета параметров и негативных контролей?</a:t>
            </a:r>
          </a:p>
        </p:txBody>
      </p:sp>
      <p:sp>
        <p:nvSpPr>
          <p:cNvPr id="1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EED20C35-7642-9F4E-A3BB-8C1184C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17106900"/>
            <a:ext cx="8328851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65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Рисунок 1. LoRA связывает масштаб и направление; DoRA явно моделирует масштаб строк.</a:t>
            </a:r>
          </a:p>
        </p:txBody>
      </p:sp>
      <p:sp>
        <p:nvSpPr>
          <p:cNvPr id="1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BDA94D2-6FBE-464B-88DE-3720892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17859375"/>
            <a:ext cx="8328851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Протокол зафиксирован до оценки на удержанных сидах</a:t>
            </a:r>
          </a:p>
        </p:txBody>
      </p:sp>
      <p:sp>
        <p:nvSpPr>
          <p:cNvPr id="1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B942A2-5D0C-DD4B-8C75-0B6799E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18630900"/>
            <a:ext cx="8328851" cy="377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Только пилотный этап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(валидация): скорость обучения, ранняя остановка и распределение ранга.</a:t>
            </a:r>
          </a:p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Удержанные сиды: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20 сидов адаптации MLP + 10 CNN; по одному фиксированному чекпоинту; 3 сдвига;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семьи сравнений (Холм): m=9 / 6 / 3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(вторичная — описательная).</a:t>
            </a:r>
          </a:p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Базовые варианты: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замороженная модель, адаптация только величины, LoRA,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LoRA+ (фикс. B/A=16),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согласованная по бюджету параметров LoRA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DoRA в рамках бюджета параметров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и полное дообучение.</a:t>
            </a:r>
          </a:p>
          <a:p xmlns:a="http://schemas.openxmlformats.org/drawingml/2006/main">
            <a:pPr algn="l">
              <a:lnSpc>
                <a:spcPct val="106000"/>
              </a:lnSpc>
              <a:spcAft>
                <a:spcPts val="0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Устойчивость: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4 вложенных режима данных; 10 синтетических целей × 5 инициализаций.</a:t>
            </a:r>
          </a:p>
          <a:p xmlns:a="http://schemas.openxmlformats.org/drawingml/2006/main">
            <a:pPr algn="l">
              <a:lnSpc>
                <a:spcPct val="106000"/>
              </a:lnSpc>
              <a:spcAft>
                <a:spcPts val="0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1,960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сохранённых строк;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1,840 задач обучения / оптимизации.</a:t>
            </a:r>
          </a:p>
        </p:txBody>
      </p:sp>
      <p:sp>
        <p:nvSpPr>
          <p:cNvPr id="18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3F137435-49A1-964A-A726-238A5F1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2764750"/>
            <a:ext cx="8328851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Негативные контроли не позволяют представить только победы DoRA</a:t>
            </a:r>
          </a:p>
        </p:txBody>
      </p:sp>
      <p:sp>
        <p:nvSpPr>
          <p:cNvPr id="19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A14AC1E-18FC-CC42-B9F3-E2F1B03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23574375"/>
            <a:ext cx="8328851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Контраст (MLP):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адаптация только величины 96.90% &gt; DoRA 95.18%.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Поворот (MLP):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согласованная по бюджету параметров LoRA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= DoRA = 93.89%.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Смешанный сдвиг (MLP):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согласование бюджета параметров снижает разрыв DoRA до +0.53 п.п.; ДИ пересекает ноль.</a:t>
            </a:r>
          </a:p>
          <a:p xmlns:a="http://schemas.openxmlformats.org/drawingml/2006/main">
            <a:pPr marL="24" indent="-14" algn="l">
              <a:lnSpc>
                <a:spcPct val="98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Рамки: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Digits, одна фиксированная предобученная база на архитектуру и одно целевое разбиение, уже использованное в разведочной работе. Это контролируемое исследование механизма, а не бенчмарк уровня больших языковых моделей (LLM).</a:t>
            </a:r>
          </a:p>
        </p:txBody>
      </p:sp>
      <p:sp>
        <p:nvSpPr>
          <p:cNvPr id="24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00E0579D-4745-7A49-9210-5699A83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95" y="23241000"/>
            <a:ext cx="8328851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Что всё же подтверждают контрольные проверки</a:t>
            </a:r>
          </a:p>
        </p:txBody>
      </p:sp>
      <p:sp>
        <p:nvSpPr>
          <p:cNvPr id="2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5D89536-B5CF-7D41-BE7A-E932D76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95" y="23955375"/>
            <a:ext cx="8328851" cy="3495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6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Смешанный сдвиг: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DoRA достигает 75.22% (MLP) и 80.53% (CNN), близко к полному дообучению (75.17%, 80.67%), при ~12-15% обучаемых параметров.</a:t>
            </a:r>
          </a:p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6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Более справедливые базовые варианты: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согласованная по бюджету параметров LoRA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оставляет +0.53 п.п.; 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для DoRA−LoRA+ p с поправкой Холма = 0.050935 (&gt; 0.05)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; 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DoRA в рамках бюджета параметров +0.82 п.п. (p с поправкой Холма во вторичной семье сравнений = 0.347089)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6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Синтетическая диагностика (gamma=.8):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DoRA представляет цель точно; 44/50 запусков достигают ошибки &lt;10^-3. Средняя ошибка оракула LoRA — .289.</a:t>
            </a:r>
          </a:p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0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Следующий тест: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неоднородный дрейф норм строк с сохранением контролей LoRA и адаптации только величины.</a:t>
            </a:r>
          </a:p>
        </p:txBody>
      </p:sp>
      <p:sp>
        <p:nvSpPr>
          <p:cNvPr id="2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8E8B3B8D-29F0-0743-BF4F-96A6C90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95" y="6572250"/>
            <a:ext cx="8328851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1725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A80"/>
                </a:solidFill>
                <a:latin typeface="Arial"/>
                <a:ea typeface="Arial"/>
                <a:cs typeface="Arial"/>
              </a:rPr>
              <a:t>СМЕШАННЫЙ СДВИГ: ОЦЕНКИ НА УДЕРЖАННЫХ СИДАХ</a:t>
            </a:r>
          </a:p>
        </p:txBody>
      </p:sp>
      <p:sp>
        <p:nvSpPr>
          <p:cNvPr id="28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07872322-45B8-0849-889C-1F819F04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966" y="22288500"/>
            <a:ext cx="8328851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5000"/>
              </a:lnSpc>
              <a:spcAft>
                <a:spcPts val="7"/>
              </a:spcAft>
              <a:buNone/>
              <a:defRPr sz="165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Целевая тестовая выборка оценивалась по протоколу, зафиксированному после выбора по валидации. Внутреннее подтверждение на фиксированных чекпоинтах; точные ДИ, исходные/скорректированные p и бюджеты ранга — в репозитории.</a:t>
            </a:r>
          </a:p>
        </p:txBody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EB946C9F-BF3E-4996-800C-CB832F24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045" y="6653687"/>
            <a:ext cx="0" cy="2068034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8CEC3D49-17C8-C442-8612-0666054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9460063"/>
            <a:ext cx="16893921" cy="310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Код, исходные результаты, ноутбук и отчёт → приватная ссылка для рецензирования; доступ по запросу.</a:t>
            </a:r>
          </a:p>
        </p:txBody>
      </p:sp>
      <p:sp>
        <p:nvSpPr>
          <p:cNvPr id="2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51292E-7EEB-3D48-87CF-183BB16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9021151"/>
            <a:ext cx="16893921" cy="310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[3] Hayou et al. LoRA+. ICML 2024.     Статистический протокол и исходные CSV: GitHub.</a:t>
            </a:r>
          </a:p>
        </p:txBody>
      </p:sp>
      <p:sp>
        <p:nvSpPr>
          <p:cNvPr id="23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D635EC2-8653-2A4C-8EB8-43B66B8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8545663"/>
            <a:ext cx="16893921" cy="310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[1] Hu et al. LoRA. ICLR 2022.     [2] Liu et al. DoRA. ICML 2024.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19FED38-DB74-2F48-BCF3-EAD7C371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0906" y="28225476"/>
            <a:ext cx="1591419" cy="1591419"/>
          </a:xfrm>
          <a:prstGeom xmlns:a="http://schemas.openxmlformats.org/drawingml/2006/main" prst="roundRect">
            <a:avLst>
              <a:gd name="adj" fmla="val 11576"/>
            </a:avLst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Скругленный 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9B16BF6B-030C-4346-A6FA-EAA603E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7425" y="28381995"/>
            <a:ext cx="1278380" cy="1278380"/>
          </a:xfrm>
          <a:prstGeom xmlns:a="http://schemas.openxmlformats.org/drawingml/2006/main" prst="roundRect">
            <a:avLst>
              <a:gd name="adj" fmla="val 11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C4891C96-3C4F-E349-8BB1-537E0F8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050" y="29870400"/>
            <a:ext cx="2305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A80"/>
                </a:solidFill>
                <a:latin typeface="Arial"/>
                <a:ea typeface="Arial"/>
                <a:cs typeface="Arial"/>
                <a:hlinkClick xmlns:r="http://schemas.openxmlformats.org/officeDocument/2006/relationships" r:id="R6e559c8806e14963"/>
              </a:rPr>
              <a:t>ПРИВАТНАЯ ССЫЛКА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1DF444-88C1-40C3-B730-22B5E517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13020294"/>
            <a:ext cx="1000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5A91A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91AA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3610E1-7DD1-4056-BE36-0BC0A8D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15001494"/>
            <a:ext cx="1000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DoRA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724CAF-B690-4BAC-B83A-E2EE51DC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2810744"/>
            <a:ext cx="10668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9050">
            <a:solidFill>
              <a:srgbClr val="A7AFB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27AE4C-6C09-466E-866E-3465FD30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358" y="12810744"/>
            <a:ext cx="1257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C99A2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BA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CA0E78-8D0E-440E-A31D-AAF2F334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958" y="12810744"/>
            <a:ext cx="18669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solidFill>
              <a:srgbClr val="5A91AA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Ŵ = W₀ + BA</a:t>
            </a:r>
          </a:p>
        </p:txBody>
      </p:sp>
      <p:cxnSp>
        <p:nvCxnSpPr>
          <p:cNvPr id="49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721608" y="13296519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91AA"/>
            </a:solidFill>
            <a:prstDash val="solid"/>
            <a:tailEnd type="triangle" w="med" len="med"/>
          </a:ln>
        </p:spPr>
      </p:cxnSp>
      <p:cxnSp>
        <p:nvCxnSpPr>
          <p:cNvPr id="498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6026658" y="13296519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91AA"/>
            </a:solidFill>
            <a:prstDash val="solid"/>
            <a:tailEnd type="triangle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FA5031-BE2B-48B4-88B2-F239936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753844"/>
            <a:ext cx="10668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9050">
            <a:solidFill>
              <a:srgbClr val="A7AFB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C80243-8BDD-424F-87DA-C61CFC0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58" y="14753844"/>
            <a:ext cx="1752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C99A2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 = W₀ + BA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D2BA60-3750-49A8-B7DA-24A22DE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558" y="14753844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19050">
            <a:solidFill>
              <a:srgbClr val="23BFB5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 / ‖V‖₂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FC1D0D-B46B-4391-80E8-1CE490A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408" y="14753844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19050">
            <a:solidFill>
              <a:srgbClr val="087F78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m ⊙ V/‖V‖₂</a:t>
            </a:r>
          </a:p>
        </p:txBody>
      </p:sp>
      <p:cxnSp>
        <p:nvCxnSpPr>
          <p:cNvPr id="503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721608" y="15239619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8"/>
            </a:solidFill>
            <a:prstDash val="solid"/>
            <a:tailEnd type="triangle" w="med" len="med"/>
          </a:ln>
        </p:spPr>
      </p:cxnSp>
      <p:cxnSp>
        <p:nvCxnSpPr>
          <p:cNvPr id="50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950458" y="15239619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8"/>
            </a:solidFill>
            <a:prstDash val="solid"/>
            <a:tailEnd type="triangle" w="med" len="med"/>
          </a:ln>
        </p:spPr>
      </p:cxnSp>
      <p:cxnSp>
        <p:nvCxnSpPr>
          <p:cNvPr id="505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798308" y="15239619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8"/>
            </a:solidFill>
            <a:prstDash val="solid"/>
            <a:tailEnd type="triangle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54FDEC-97A6-4839-844F-C8A084D4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108" y="15792069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направление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AB3E0B-210A-4645-963E-5C0CE30A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58" y="15792069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A80"/>
                </a:solidFill>
                <a:latin typeface="Arial"/>
                <a:ea typeface="Arial"/>
                <a:cs typeface="Arial"/>
              </a:rPr>
              <a:t>независимый масштаб строк 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0515CC-C181-48B1-BD60-FBC6F2B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16296894"/>
            <a:ext cx="691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Одинаковый ранг r; DoRA добавляет d_out обучаемых параметров величины.</a:t>
            </a:r>
          </a:p>
        </p:txBody>
      </p:sp>
      <p:pic>
        <p:nvPicPr>
          <p:cNvPr id="5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d92a128714951"/>
          <a:stretch xmlns:a="http://schemas.openxmlformats.org/drawingml/2006/main"/>
        </p:blipFill>
        <p:spPr>
          <a:xfrm xmlns:a="http://schemas.openxmlformats.org/drawingml/2006/main" flipH="0" flipV="0">
            <a:off x="11540395" y="9240089"/>
            <a:ext cx="8328851" cy="12552272"/>
          </a:xfrm>
          <a:prstGeom xmlns:a="http://schemas.openxmlformats.org/drawingml/2006/main" prst="rect">
            <a:avLst/>
          </a:prstGeom>
        </p:spPr>
      </p:pic>
      <p:pic>
        <p:nvPicPr>
          <p:cNvPr id="5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cad69b5c1488c"/>
          <a:stretch xmlns:a="http://schemas.openxmlformats.org/drawingml/2006/main"/>
        </p:blipFill>
        <p:spPr>
          <a:xfrm xmlns:a="http://schemas.openxmlformats.org/drawingml/2006/main">
            <a:off x="18437447" y="28382023"/>
            <a:ext cx="1278350" cy="1278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41552"/>
      </p:ext>
    </p:extLst>
  </p:cSld>
</p:sld>
</file>

<file path=ppt/theme/theme1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2026-07-20T22:12:57.4060000Z</dcterms:created>
  <dcterms:modified xsi:type="dcterms:W3CDTF">2026-07-20T22:12:57.4060000Z</dcterms:modified>
</coreProperties>
</file>
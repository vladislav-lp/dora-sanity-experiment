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4240ec63184b25" /><Relationship Type="http://schemas.openxmlformats.org/officeDocument/2006/relationships/extended-properties" Target="/docProps/app.xml" Id="R92a478bcb08d4ce6" /><Relationship Type="http://schemas.openxmlformats.org/officeDocument/2006/relationships/officeDocument" Target="/ppt/presentation.xml" Id="R11aef06eec7547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dcc4bdac8e413a"/>
  </p:sldMasterIdLst>
  <p:notesMasterIdLst>
    <p:notesMasterId xmlns:r="http://schemas.openxmlformats.org/officeDocument/2006/relationships" r:id="R8506739cfc804c9b"/>
  </p:notesMasterIdLst>
  <p:sldIdLst>
    <p:sldId xmlns:r="http://schemas.openxmlformats.org/officeDocument/2006/relationships" id="256" r:id="R1706cb6865304067"/>
  </p:sldIdLst>
  <p:sldSz cx="21383625" cy="30275213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2252300bb5417c" /><Relationship Type="http://schemas.openxmlformats.org/officeDocument/2006/relationships/slideMaster" Target="/ppt/slideMasters/slideMaster1.xml" Id="Rd7dcc4bdac8e413a" /><Relationship Type="http://schemas.openxmlformats.org/officeDocument/2006/relationships/notesMaster" Target="/ppt/notesMasters/notesMaster1.xml" Id="R8506739cfc804c9b" /><Relationship Type="http://schemas.openxmlformats.org/officeDocument/2006/relationships/presProps" Target="/ppt/presProps.xml" Id="Rb061fc3d9bf74ec1" /><Relationship Type="http://schemas.openxmlformats.org/officeDocument/2006/relationships/viewProps" Target="/ppt/viewProps.xml" Id="R5645dbaf3df54ed8" /><Relationship Type="http://schemas.openxmlformats.org/officeDocument/2006/relationships/tableStyles" Target="/ppt/tableStyles.xml" Id="Re621671d7a594270" /><Relationship Type="http://schemas.openxmlformats.org/officeDocument/2006/relationships/slide" Target="/ppt/slides/slide1.xml" Id="R1706cb68653040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ea8a8c8ede40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1c1ca2ac3e4f04" /><Relationship Type="http://schemas.openxmlformats.org/officeDocument/2006/relationships/notesMaster" Target="/ppt/notesMasters/notesMaster1.xml" Id="Ref7dcee90e3648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97eed1e94f4eb8" /><Relationship Type="http://schemas.openxmlformats.org/officeDocument/2006/relationships/image" Target="/ppt/media/image.png" Id="Ree74f9860dd04265" /><Relationship Type="http://schemas.openxmlformats.org/officeDocument/2006/relationships/image" Target="/ppt/media/image2.png" Id="R045ee2482d5a46b9" /><Relationship Type="http://schemas.openxmlformats.org/officeDocument/2006/relationships/image" Target="/ppt/media/image3.png" Id="R290115cc35194ca3" /><Relationship Type="http://schemas.openxmlformats.org/officeDocument/2006/relationships/image" Target="/ppt/media/image4.png" Id="R8c2a317b7d1349b4" /></Relationships>
</file>

<file path=ppt/slideLayouts/slideLayout1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74f9860dd042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51886" y="1138545"/>
            <a:ext cx="3919926" cy="340496"/>
          </a:xfrm>
          <a:prstGeom xmlns:a="http://schemas.openxmlformats.org/drawingml/2006/main" prst="rect">
            <a:avLst/>
          </a:prstGeom>
        </p:spPr>
      </p:pic>
      <p:pic>
        <p:nvPicPr>
          <p:cNvPr id="2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5ee2482d5a46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45478" y="555676"/>
            <a:ext cx="5917195" cy="1057495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28F8C1-3D82-44B2-88E6-2946F096D0A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511812" y="2430030"/>
            <a:ext cx="18360000" cy="11079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lvl1pPr algn="ctr">
              <a:buNone/>
              <a:defRPr sz="8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Название </a:t>
            </a:r>
          </a:p>
        </p:txBody>
      </p:sp>
      <p:pic>
        <p:nvPicPr>
          <p:cNvPr id="4" name="Рисунок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0115cc35194c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49128" y="28581063"/>
            <a:ext cx="2302644" cy="627066"/>
          </a:xfrm>
          <a:prstGeom xmlns:a="http://schemas.openxmlformats.org/drawingml/2006/main" prst="rect">
            <a:avLst/>
          </a:prstGeom>
        </p:spPr>
      </p:pic>
      <p:pic>
        <p:nvPicPr>
          <p:cNvPr id="5" name="Рисунок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317b7d1349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956286" y="28609881"/>
            <a:ext cx="2265908" cy="542369"/>
          </a:xfrm>
          <a:prstGeom xmlns:a="http://schemas.openxmlformats.org/drawingml/2006/main" prst="rect">
            <a:avLst/>
          </a:prstGeom>
        </p:spPr>
      </p:pic>
      <p:sp>
        <p:nvSpPr>
          <p:cNvPr id="6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911521AD-ED2F-4070-A5C9-069811C9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377" y="29467207"/>
            <a:ext cx="3024450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Генеральный партнёр</a:t>
            </a:r>
          </a:p>
        </p:txBody>
      </p:sp>
      <p:sp>
        <p:nvSpPr>
          <p:cNvPr id="6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0370A2-F3C5-4982-864E-FD69C694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9662" y="29467207"/>
            <a:ext cx="2976199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Партнёр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835b0c48cc4b8d" /><Relationship Type="http://schemas.openxmlformats.org/officeDocument/2006/relationships/slideLayout" Target="/ppt/slideLayouts/slideLayout1.xml" Id="R28722d24d207410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722d24d207410f"/>
  </p:sldLayoutIdLst>
  <p:txStyles>
    <p:titleStyle>
      <a:lvl1pPr xmlns:a="http://schemas.openxmlformats.org/drawingml/2006/main" algn="l">
        <a:lnSpc>
          <a:spcPct val="90000"/>
        </a:lnSpc>
        <a:buNone/>
        <a:defRPr sz="10289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534581" indent="-534581" algn="l">
        <a:lnSpc>
          <a:spcPct val="90000"/>
        </a:lnSpc>
        <a:spcBef>
          <a:spcPts val="2339"/>
        </a:spcBef>
        <a:buChar char="•"/>
        <a:defRPr sz="6548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603743" indent="-534581" algn="l">
        <a:lnSpc>
          <a:spcPct val="90000"/>
        </a:lnSpc>
        <a:spcBef>
          <a:spcPts val="1169"/>
        </a:spcBef>
        <a:buChar char="•"/>
        <a:defRPr sz="5612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672906" indent="-534581" algn="l">
        <a:lnSpc>
          <a:spcPct val="90000"/>
        </a:lnSpc>
        <a:spcBef>
          <a:spcPts val="1169"/>
        </a:spcBef>
        <a:buChar char="•"/>
        <a:defRPr sz="4677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742068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811230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880392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949554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8018717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9087879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069162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138324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207487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276649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345811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414973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7484135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8553298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19b26a95243b1" /><Relationship Type="http://schemas.openxmlformats.org/officeDocument/2006/relationships/hyperlink" Target="https://github.com/Vladislav-Lp/dora-sanity-experiment" TargetMode="External" Id="R61ee8d85eecb4966" /><Relationship Type="http://schemas.openxmlformats.org/officeDocument/2006/relationships/image" Target="/ppt/media/image5.png" Id="Rbd72debc9dc14d43" /><Relationship Type="http://schemas.openxmlformats.org/officeDocument/2006/relationships/image" Target="/ppt/media/image6.png" Id="R48e8e0d313ef4212" /><Relationship Type="http://schemas.openxmlformats.org/officeDocument/2006/relationships/notesSlide" Target="/ppt/notesSlides/notesSlide1.xml" Id="Rc19c924de595436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5F437BD-98F8-7B42-921D-B072EC2BB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808" y="2133600"/>
            <a:ext cx="18360009" cy="1695450"/>
          </a:xfr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Когда DoRA помогает?</a:t>
            </a:r>
          </a:p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Геометрия, бюджеты параметров и few-shot-адаптация на удержанных сидах</a:t>
            </a:r>
          </a:p>
        </p:txBody>
      </p:sp>
      <p:sp>
        <p:nvSpPr>
          <p:cNvPr id="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F964CF7-1659-7147-B572-E13A52A0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170" y="4171950"/>
            <a:ext cx="14099286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25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Vladislav Lapin  ·  MIPT FPMI / AI360  ·  Летняя школа AIRI 2026</a:t>
            </a:r>
          </a:p>
        </p:txBody>
      </p:sp>
      <p:sp>
        <p:nvSpPr>
          <p:cNvPr id="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2F7037B-A9E7-804C-A32F-F530F150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7029450"/>
            <a:ext cx="8328851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7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+1.06 п.п. MLP  ·  +0.92 п.п. CNN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EFEBC4B-1CC1-914C-ACE6-C9FD0FDF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15969491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17D5A267-4A77-C249-B8B6-14811E2C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7848600"/>
            <a:ext cx="8328851" cy="1190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15/20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пар MLP и </a:t>
            </a: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8/10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пар CNN отдали преимущество DoRA. </a:t>
            </a: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Скорректированное методом Холма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p-значение =.382213 (MLP) / .158955 (CNN): внутреннее свидетельство на фиксированных чекпоинтах, а не внешняя (независимая) репликация.</a:t>
            </a:r>
          </a:p>
        </p:txBody>
      </p:sp>
      <p:sp>
        <p:nvSpPr>
          <p:cNvPr id="11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EDBD61F-81A5-394C-888C-55CD3C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1878925"/>
            <a:ext cx="8328851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Рисунок 2. Удержанные сиды → режим данных → представительная способность / оптимизация.</a:t>
            </a:r>
          </a:p>
        </p:txBody>
      </p:sp>
      <p:sp>
        <p:nvSpPr>
          <p:cNvPr id="1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777D2B1B-83DE-4E47-8FA4-305FD5D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284" y="65722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Зачем отделять величину от направления?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F2C556B-62C1-8B47-B96E-BAAD9575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2" y="12353589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7D44248-8FEB-1D4C-88DA-BAC694E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7400925"/>
            <a:ext cx="8328851" cy="3752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1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LoRA добавляет низкоранговое обновление BA, связывая направление и норму строк. DoRA задаёт W = m ⊙ (W₀ + BA) / ‖W₀ + BA‖₂, поэтому BA управляет направлением, а m — масштабом строк.</a:t>
            </a:r>
          </a:p>
          <a:p xmlns:a="http://schemas.openxmlformats.org/drawingml/2006/main">
            <a:pPr marL="24" indent="-14" algn="l">
              <a:lnSpc>
                <a:spcPct val="100000"/>
              </a:lnSpc>
              <a:spcAft>
                <a:spcPts val="7"/>
              </a:spcAft>
              <a:buNone/>
              <a:defRPr sz="24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1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Исследовательский вопрос:</a:t>
            </a:r>
            <a:r>
              <a:rPr sz="21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улучшает ли эта степень свободы целевую адаптацию после честного выбора, контроля бюджета параметров и негативных контролей?</a:t>
            </a:r>
          </a:p>
        </p:txBody>
      </p:sp>
      <p:sp>
        <p:nvSpPr>
          <p:cNvPr id="1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ED20C35-7642-9F4E-A3BB-8C1184CC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106900"/>
            <a:ext cx="8328851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Рисунок 1. LoRA связывает масштаб и направление; DoRA явно моделирует масштаб строк.</a:t>
            </a:r>
          </a:p>
        </p:txBody>
      </p:sp>
      <p:sp>
        <p:nvSpPr>
          <p:cNvPr id="1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BDA94D2-6FBE-464B-88DE-37208926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859375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Протокол зафиксирован до оценки на удержанных сидах</a:t>
            </a:r>
          </a:p>
        </p:txBody>
      </p:sp>
      <p:sp>
        <p:nvSpPr>
          <p:cNvPr id="1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B942A2-5D0C-DD4B-8C75-0B6799E8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8630900"/>
            <a:ext cx="8328851" cy="3771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Только пилотный этап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(валидация): скорость обучения, ранняя остановка и распределение ранга.</a:t>
            </a:r>
          </a:p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Удержанные сиды: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20 сидов адаптации MLP + 10 CNN; по одному фиксированному чекпоинту; 3 сдвига; семьи Холма m=9 / 6 / 3 (вторичная — описательная).</a:t>
            </a:r>
          </a:p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Базовые варианты: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замороженная модель, адаптация только величины, LoRA,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LoRA+ (фикс. B/A=16), согласованная по бюджету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LoRA, DoRA в рамках бюджета и полное дообучение.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0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Устойчивость: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4 вложенных режима данных; 10 синтетических целей × 5 инициализаций.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0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1,960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сохранённых строк;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1,840 задач обучения / оптимизации.</a:t>
            </a:r>
          </a:p>
        </p:txBody>
      </p:sp>
      <p:sp>
        <p:nvSpPr>
          <p:cNvPr id="1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F137435-49A1-964A-A726-238A5F10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27647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Негативные контроли не позволяют представить только победы DoRA</a:t>
            </a:r>
          </a:p>
        </p:txBody>
      </p:sp>
      <p:sp>
        <p:nvSpPr>
          <p:cNvPr id="1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A14AC1E-18FC-CC42-B9F3-E2F1B032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23574375"/>
            <a:ext cx="8328851" cy="3829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Контраст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адаптация только величины 96.90% &gt; DoRA 95.18%.</a:t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Поворот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согласованная по бюджету LoRA = DoRA = 93.89%.</a:t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Смешанный сдвиг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согласование бюджета параметров снижает разрыв DoRA до +0.53 п.п.; ДИ пересекает ноль.</a:t>
            </a:r>
          </a:p>
          <a:p xmlns:a="http://schemas.openxmlformats.org/drawingml/2006/main">
            <a:pPr marL="24" indent="-14" algn="l">
              <a:lnSpc>
                <a:spcPct val="98000"/>
              </a:lnSpc>
              <a:spcAft>
                <a:spcPts val="7"/>
              </a:spcAft>
              <a:buNone/>
              <a:defRPr sz="23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Рамки: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Digits, одна фиксированная предобученная база на архитектуру и одно целевое разбиение, уже использованное в разведочной работе. Это контролируемое исследование механизма, а не бенчмарк уровня больших языковых моделей (LLM).</a:t>
            </a:r>
          </a:p>
        </p:txBody>
      </p:sp>
      <p:sp>
        <p:nvSpPr>
          <p:cNvPr id="2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0E0579D-4745-7A49-9210-5699A830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23241000"/>
            <a:ext cx="8328851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Что всё же подтверждают контрольные проверки</a:t>
            </a:r>
          </a:p>
        </p:txBody>
      </p:sp>
      <p:sp>
        <p:nvSpPr>
          <p:cNvPr id="2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5D89536-B5CF-7D41-BE7A-E932D764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3955375"/>
            <a:ext cx="8328851" cy="3495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6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Смешанный сдвиг: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DoRA достигает 75.22% (MLP) и 80.53% (CNN), близко к полному дообучению (75.17%, 80.67%), при ~12-15% обучаемых параметров.</a:t>
            </a:r>
          </a:p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6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Более справедливые базовые варианты: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согласованная по бюджету LoRA оставляет +0.53 п.п.; для DoRA-LoRA+ p, скорректированное методом Холма, =.050935 (&gt; .05); DoRA в рамках бюджета +.82 п.п. (во вторичной семье p, скорректированное методом Холма, =.347089).</a:t>
            </a:r>
          </a:p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6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Синтетическая диагностика (gamma=.8):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DoRA представляет цель точно; 44/50 запусков достигают ошибки &lt;10^-3. Средняя ошибка оракула LoRA — .289.</a:t>
            </a:r>
          </a:p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0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Следующий тест: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неоднородный дрейф норм строк с сохранением контролей LoRA и адаптации только величины.</a:t>
            </a:r>
          </a:p>
        </p:txBody>
      </p:sp>
      <p:sp>
        <p:nvSpPr>
          <p:cNvPr id="2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E8B3B8D-29F0-0743-BF4F-96A6C906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6572250"/>
            <a:ext cx="8328851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172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СМЕШАННЫЙ СДВИГ: ОЦЕНКИ НА УДЕРЖАННЫХ СИДАХ</a:t>
            </a:r>
          </a:p>
        </p:txBody>
      </p:sp>
      <p:sp>
        <p:nvSpPr>
          <p:cNvPr id="2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7872322-45B8-0849-889C-1F819F04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22288500"/>
            <a:ext cx="8328851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5000"/>
              </a:lnSpc>
              <a:spcAft>
                <a:spcPts val="7"/>
              </a:spcAft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Целевая тестовая выборка оценивалась по протоколу, зафиксированному после выбора по валидации. Внутреннее подтверждение на фиксированных чекпоинтах; точные ДИ, исходные/скорректированные p и бюджеты ранга — в репозитории.</a:t>
            </a:r>
          </a:p>
        </p:txBody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EB946C9F-BF3E-4996-800C-CB832F24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045" y="6653687"/>
            <a:ext cx="0" cy="20680342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CEC3D49-17C8-C442-8612-0666054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4600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Код, исходные результаты, ноутбук и отчёт → приватная ссылка для рецензирования; доступ по запросу.</a:t>
            </a:r>
          </a:p>
        </p:txBody>
      </p:sp>
      <p:sp>
        <p:nvSpPr>
          <p:cNvPr id="2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51292E-7EEB-3D48-87CF-183BB16B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021151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[3] Hayou et al. LoRA+. ICML 2024.     Статистический протокол и исходные CSV: GitHub.</a:t>
            </a:r>
          </a:p>
        </p:txBody>
      </p:sp>
      <p:sp>
        <p:nvSpPr>
          <p:cNvPr id="2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D635EC2-8653-2A4C-8EB8-43B66B88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85456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[1] Hu et al. LoRA. ICLR 2022.     [2] Liu et al. DoRA. ICML 2024.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19FED38-DB74-2F48-BCF3-EAD7C37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0906" y="28225476"/>
            <a:ext cx="1591419" cy="1591419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Скругленный прямоугольник 29">
            <a:extLst xmlns:a="http://schemas.openxmlformats.org/drawingml/2006/main">
              <a:ext uri="{FF2B5EF4-FFF2-40B4-BE49-F238E27FC236}">
                <a16:creationId xmlns:a16="http://schemas.microsoft.com/office/drawing/2014/main" id="{9B16BF6B-030C-4346-A6FA-EAA603EF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7425" y="28381995"/>
            <a:ext cx="1278380" cy="1278380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C4891C96-3C4F-E349-8BB1-537E0F81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6050" y="29870400"/>
            <a:ext cx="23050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92000"/>
              </a:lnSpc>
              <a:buNone/>
              <a:defRPr sz="127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A80"/>
                </a:solidFill>
                <a:latin typeface="Arial"/>
                <a:ea typeface="Arial"/>
                <a:cs typeface="Arial"/>
                <a:hlinkClick xmlns:r="http://schemas.openxmlformats.org/officeDocument/2006/relationships" r:id="R61ee8d85eecb4966"/>
              </a:rPr>
              <a:t>ПРИВАТНАЯ ССЫЛКА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1DF444-88C1-40C3-B730-22B5E517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30202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5A91A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91AA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3610E1-7DD1-4056-BE36-0BC0A8D2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50014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DoRA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724CAF-B690-4BAC-B83A-E2EE51DC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28107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27AE4C-6C09-466E-866E-3465FD30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9358" y="12810744"/>
            <a:ext cx="1257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+ BA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A0E78-8D0E-440E-A31D-AAF2F334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958" y="12810744"/>
            <a:ext cx="18669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5FA"/>
          </a:solidFill>
          <a:ln xmlns:a="http://schemas.openxmlformats.org/drawingml/2006/main" w="19050">
            <a:solidFill>
              <a:srgbClr val="5A91AA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Ŵ = W₀ + BA</a:t>
            </a:r>
          </a:p>
        </p:txBody>
      </p:sp>
      <p:cxnSp>
        <p:nvCxnSpPr>
          <p:cNvPr id="415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3721608" y="13296519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cxnSp>
        <p:nvCxnSpPr>
          <p:cNvPr id="416" name="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6026658" y="13296519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A5031-BE2B-48B4-88B2-F2399362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47538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C80243-8BDD-424F-87DA-C61CFC0B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858" y="14753844"/>
            <a:ext cx="17526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= W₀ + BA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D2BA60-3750-49A8-B7DA-24A22DE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55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23BFB5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/ ‖V‖₂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FC1D0D-B46B-4391-80E8-1CE490A9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40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087F78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87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 ⊙ V/‖V‖₂</a:t>
            </a:r>
          </a:p>
        </p:txBody>
      </p:sp>
      <p:cxnSp>
        <p:nvCxnSpPr>
          <p:cNvPr id="421" name=""/>
          <p:cNvCxnSpPr>
            <a:stCxn xmlns:a="http://schemas.openxmlformats.org/drawingml/2006/main" id="45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3721608" y="15239619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422" name=""/>
          <p:cNvCxnSpPr>
            <a:stCxn xmlns:a="http://schemas.openxmlformats.org/drawingml/2006/main" id="46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95045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423" name=""/>
          <p:cNvCxnSpPr>
            <a:stCxn xmlns:a="http://schemas.openxmlformats.org/drawingml/2006/main" id="47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779830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54FDEC-97A6-4839-844F-C8A084D4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8108" y="15792069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направление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AB3E0B-210A-4645-963E-5C0CE30A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958" y="15792069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независимый масштаб строк 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0515CC-C181-48B1-BD60-FBC6F2BC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758" y="16296894"/>
            <a:ext cx="6915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Одинаковый ранг r; DoRA добавляет d_out обучаемых параметров величины.</a:t>
            </a:r>
          </a:p>
        </p:txBody>
      </p:sp>
      <p:pic>
        <p:nvPicPr>
          <p:cNvPr id="4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72debc9dc14d43"/>
          <a:stretch xmlns:a="http://schemas.openxmlformats.org/drawingml/2006/main"/>
        </p:blipFill>
        <p:spPr>
          <a:xfrm xmlns:a="http://schemas.openxmlformats.org/drawingml/2006/main" flipH="0" flipV="0">
            <a:off x="11540395" y="9240089"/>
            <a:ext cx="8328851" cy="12552272"/>
          </a:xfrm>
          <a:prstGeom xmlns:a="http://schemas.openxmlformats.org/drawingml/2006/main" prst="rect">
            <a:avLst/>
          </a:prstGeom>
        </p:spPr>
      </p:pic>
      <p:pic>
        <p:nvPicPr>
          <p:cNvPr id="4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8e0d313ef4212"/>
          <a:stretch xmlns:a="http://schemas.openxmlformats.org/drawingml/2006/main"/>
        </p:blipFill>
        <p:spPr>
          <a:xfrm xmlns:a="http://schemas.openxmlformats.org/drawingml/2006/main">
            <a:off x="18437447" y="28382023"/>
            <a:ext cx="1278350" cy="1278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841552"/>
      </p:ext>
    </p:extLst>
  </p:cSld>
</p:sld>
</file>

<file path=ppt/theme/theme1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2026-07-20T17:38:28.1510000Z</dcterms:created>
  <dcterms:modified xsi:type="dcterms:W3CDTF">2026-07-20T17:38:28.1510000Z</dcterms:modified>
</coreProperties>
</file>
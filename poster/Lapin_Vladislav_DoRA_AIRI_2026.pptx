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71d527ce7644cd" /><Relationship Type="http://schemas.openxmlformats.org/officeDocument/2006/relationships/extended-properties" Target="/docProps/app.xml" Id="R931899ea909d4b1c" /><Relationship Type="http://schemas.openxmlformats.org/officeDocument/2006/relationships/officeDocument" Target="/ppt/presentation.xml" Id="Rc51c5042ba0e40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f5abe7ca3243d4"/>
  </p:sldMasterIdLst>
  <p:notesMasterIdLst>
    <p:notesMasterId xmlns:r="http://schemas.openxmlformats.org/officeDocument/2006/relationships" r:id="Re5e9fe7dfca34cea"/>
  </p:notesMasterIdLst>
  <p:sldIdLst>
    <p:sldId xmlns:r="http://schemas.openxmlformats.org/officeDocument/2006/relationships" id="256" r:id="R6cee9e0473404e54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2809469737405e" /><Relationship Type="http://schemas.openxmlformats.org/officeDocument/2006/relationships/slideMaster" Target="/ppt/slideMasters/slideMaster1.xml" Id="R9cf5abe7ca3243d4" /><Relationship Type="http://schemas.openxmlformats.org/officeDocument/2006/relationships/notesMaster" Target="/ppt/notesMasters/notesMaster1.xml" Id="Re5e9fe7dfca34cea" /><Relationship Type="http://schemas.openxmlformats.org/officeDocument/2006/relationships/presProps" Target="/ppt/presProps.xml" Id="Re6a454aefac7454e" /><Relationship Type="http://schemas.openxmlformats.org/officeDocument/2006/relationships/viewProps" Target="/ppt/viewProps.xml" Id="Rc402273e6ea74583" /><Relationship Type="http://schemas.openxmlformats.org/officeDocument/2006/relationships/tableStyles" Target="/ppt/tableStyles.xml" Id="Rf1982d5e213f4103" /><Relationship Type="http://schemas.openxmlformats.org/officeDocument/2006/relationships/slide" Target="/ppt/slides/slide1.xml" Id="R6cee9e0473404e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0fb1d464a141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8eff70b2f24f24" /><Relationship Type="http://schemas.openxmlformats.org/officeDocument/2006/relationships/notesMaster" Target="/ppt/notesMasters/notesMaster1.xml" Id="Rcd316c599a6a40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fa668150764564" /><Relationship Type="http://schemas.openxmlformats.org/officeDocument/2006/relationships/image" Target="/ppt/media/image.png" Id="R10657e7a6d7348a1" /><Relationship Type="http://schemas.openxmlformats.org/officeDocument/2006/relationships/image" Target="/ppt/media/image2.png" Id="Rd03fe83c58aa4aac" /><Relationship Type="http://schemas.openxmlformats.org/officeDocument/2006/relationships/image" Target="/ppt/media/image3.png" Id="Rc68a4f66c9c64fb0" /><Relationship Type="http://schemas.openxmlformats.org/officeDocument/2006/relationships/image" Target="/ppt/media/image4.png" Id="Rc44284c420694238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57e7a6d73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fe83c58aa4a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8a4f66c9c64f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284c4206942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2157fd682b4641" /><Relationship Type="http://schemas.openxmlformats.org/officeDocument/2006/relationships/slideLayout" Target="/ppt/slideLayouts/slideLayout1.xml" Id="R9f163b2d76364c5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163b2d76364c59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f25f079704591" /><Relationship Type="http://schemas.openxmlformats.org/officeDocument/2006/relationships/hyperlink" Target="https://github.com/Vladislav-Lp/dora-sanity-experiment" TargetMode="External" Id="R86527362545a4ea4" /><Relationship Type="http://schemas.openxmlformats.org/officeDocument/2006/relationships/image" Target="/ppt/media/image5.png" Id="Rf2ef21d7841e402a" /><Relationship Type="http://schemas.openxmlformats.org/officeDocument/2006/relationships/image" Target="/ppt/media/image6.png" Id="Rf30d876fabb746fb" /><Relationship Type="http://schemas.openxmlformats.org/officeDocument/2006/relationships/notesSlide" Target="/ppt/notesSlides/notesSlide1.xml" Id="R19096b361f5043b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When does DoRA help?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Geometry, budgets, and confirmatory few-shot adaptation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AIRI Summer School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pp MLP  ·  +0.92 pp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MLP seeds and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8/10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CNN seeds favored DoRA. The unadjusted 95% CI excludes zero for CNN, not MLP;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Holm-adjusted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comparison families remain inconclusive.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Figure 2. Replication → data regime → capacity / optimization diagnostic.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Why separate magnitude from direction?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3752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 adds a low-rank update BA, coupling row direction and row norm. DoRA writes W = m ⊙ (W₀ + BA) / ‖W₀ + BA‖₂, so BA controls direction while m controls row scale.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Research question:</a:t>
            </a: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does this extra degree of freedom improve target adaptation after fair selection, budget controls, and negative controls?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Figure 1. LoRA couples scale and direction; DoRA models row scale explicitly.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Frozen protocol before confirmatory testing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Pilot only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(validation): learning rate, early stopping, and rank allocation.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Confirmatory: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20 paired MLP seeds + 10 paired CNN seeds; 3 shifts; 9 pre-declared primary comparisons with Holm correction.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Baselines: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frozen, magnitude-only, LoRA, LoRA+, matched-budget LoRA, budgeted DoRA, and full fine-tuning.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Robustness: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4 nested data regimes; 10 synthetic targets × 5 initializations.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1,960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saved result rows; 1,840 independent training / optimization jobs.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Negative controls prevent a victory-only story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3829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Contrast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magnitude-only 96.90% &gt; DoRA 95.18%.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Rotation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matched-budget LoRA = DoRA = 93.89%.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matching the parameter budget reduces the DoRA gap to +0.53 pp; its CI crosses zero.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Scope: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Digits, one fixed pretrained base per architecture, and one target split already seen during exploratory work. This is a controlled mechanism study, not an LLM-scale benchmark.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What survived the controls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3495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Mixed-shift DoRA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reaches 75.22% on MLP and 80.53% on CNN - near full FT (75.17%, 80.67%) with only ~12-15% as many trainable parameters.</a:t>
            </a:r>
          </a:p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Matched-budget LoRA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narrows the MLP gap to +0.53 pp; budgeted DoRA still gains +0.82 pp over uniform LoRA.</a:t>
            </a:r>
          </a:p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At γ=.8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, DoRA is representationally exact; training converges below 10⁻³ in 44/50 runs. LoRA's best possible mean error is 0.289.</a:t>
            </a:r>
          </a:p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Decision rule: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test DoRA when heterogeneous row-norm drift is plausible; retain LoRA and magnitude-only baselines.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CONFIRMATORY MIXED-SHIFT EFFECT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Target-test evaluation followed the frozen validation-selected extension protocol. Error bars are paired t intervals; exact CIs, p-values, and rank budgets are in the repository.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Code, executed notebook, full report, raw results, and reproduction instructions → QR.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Statistical protocol and raw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86527362545a4ea4"/>
              </a:rPr>
              <a:t>CODE / DATA / REPORT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169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170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175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176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177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independent row scale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Same rank r; DoRA adds d_out trainable magnitude parameters.</a:t>
            </a:r>
          </a:p>
        </p:txBody>
      </p:sp>
      <p:pic>
        <p:nvPicPr>
          <p:cNvPr id="1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f21d7841e402a"/>
          <a:stretch xmlns:a="http://schemas.openxmlformats.org/drawingml/2006/main"/>
        </p:blipFill>
        <p:spPr>
          <a:xfrm xmlns:a="http://schemas.openxmlformats.org/drawingml/2006/main">
            <a:off x="11540395" y="9240089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1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d876fabb746fb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2026-07-17T11:02:29.1500000Z</dcterms:created>
  <dcterms:modified xsi:type="dcterms:W3CDTF">2026-07-17T11:02:29.1500000Z</dcterms:modified>
</coreProperties>
</file>
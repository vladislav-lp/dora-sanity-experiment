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4d706731df146ca" /><Relationship Type="http://schemas.openxmlformats.org/officeDocument/2006/relationships/extended-properties" Target="/docProps/app.xml" Id="Ra4580756b5804200" /><Relationship Type="http://schemas.openxmlformats.org/officeDocument/2006/relationships/officeDocument" Target="/ppt/presentation.xml" Id="Rda5c36ca0772466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1ee16d8a1814b64"/>
  </p:sldMasterIdLst>
  <p:notesMasterIdLst>
    <p:notesMasterId xmlns:r="http://schemas.openxmlformats.org/officeDocument/2006/relationships" r:id="R3b107342d5ea400c"/>
  </p:notesMasterIdLst>
  <p:sldIdLst>
    <p:sldId xmlns:r="http://schemas.openxmlformats.org/officeDocument/2006/relationships" id="256" r:id="Rf10289a5fba04b4a"/>
  </p:sldIdLst>
  <p:sldSz cx="21383625" cy="30275213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043ded4e6ab407a" /><Relationship Type="http://schemas.openxmlformats.org/officeDocument/2006/relationships/slideMaster" Target="/ppt/slideMasters/slideMaster1.xml" Id="R91ee16d8a1814b64" /><Relationship Type="http://schemas.openxmlformats.org/officeDocument/2006/relationships/notesMaster" Target="/ppt/notesMasters/notesMaster1.xml" Id="R3b107342d5ea400c" /><Relationship Type="http://schemas.openxmlformats.org/officeDocument/2006/relationships/presProps" Target="/ppt/presProps.xml" Id="R8927a0ba12e64789" /><Relationship Type="http://schemas.openxmlformats.org/officeDocument/2006/relationships/viewProps" Target="/ppt/viewProps.xml" Id="Rdda1f8b606c54fc2" /><Relationship Type="http://schemas.openxmlformats.org/officeDocument/2006/relationships/tableStyles" Target="/ppt/tableStyles.xml" Id="R2babedd0ca5749ee" /><Relationship Type="http://schemas.openxmlformats.org/officeDocument/2006/relationships/slide" Target="/ppt/slides/slide1.xml" Id="Rf10289a5fba04b4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ffa35111cda485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Тема Office">
  <a:themeElements>
    <a:clrScheme name="AIRI Summer">
      <a:dk1>
        <a:srgbClr val="000000"/>
      </a:dk1>
      <a:lt1>
        <a:srgbClr val="FFFFFF"/>
      </a:lt1>
      <a:dk2>
        <a:srgbClr val="494949"/>
      </a:dk2>
      <a:lt2>
        <a:srgbClr val="F2EEE9"/>
      </a:lt2>
      <a:accent1>
        <a:srgbClr val="1D51C8"/>
      </a:accent1>
      <a:accent2>
        <a:srgbClr val="988CFF"/>
      </a:accent2>
      <a:accent3>
        <a:srgbClr val="A5A5A5"/>
      </a:accent3>
      <a:accent4>
        <a:srgbClr val="FFD027"/>
      </a:accent4>
      <a:accent5>
        <a:srgbClr val="50C0FF"/>
      </a:accent5>
      <a:accent6>
        <a:srgbClr val="3ED0B9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IRI Summer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3912b7e6fbf482b" /><Relationship Type="http://schemas.openxmlformats.org/officeDocument/2006/relationships/notesMaster" Target="/ppt/notesMasters/notesMaster1.xml" Id="R2c6fe8a7dc97444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db38eaa94549d3" /><Relationship Type="http://schemas.openxmlformats.org/officeDocument/2006/relationships/image" Target="/ppt/media/image.png" Id="Ra301741397e94bfa" /><Relationship Type="http://schemas.openxmlformats.org/officeDocument/2006/relationships/image" Target="/ppt/media/image2.png" Id="R8e73e9fb4a964b77" /><Relationship Type="http://schemas.openxmlformats.org/officeDocument/2006/relationships/image" Target="/ppt/media/image3.png" Id="R0eb19099dd294f0e" /><Relationship Type="http://schemas.openxmlformats.org/officeDocument/2006/relationships/image" Target="/ppt/media/image4.png" Id="R2d6388a814424445" /></Relationships>
</file>

<file path=ppt/slideLayouts/slideLayout1.xml><?xml version="1.0" encoding="utf-8"?>
<p:sldLayout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Рисунок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01741397e94bf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5951886" y="1138545"/>
            <a:ext cx="3919926" cy="340496"/>
          </a:xfrm>
          <a:prstGeom xmlns:a="http://schemas.openxmlformats.org/drawingml/2006/main" prst="rect">
            <a:avLst/>
          </a:prstGeom>
        </p:spPr>
      </p:pic>
      <p:pic>
        <p:nvPicPr>
          <p:cNvPr id="2" name="Рисунок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73e9fb4a964b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545478" y="555676"/>
            <a:ext cx="5917195" cy="1057495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728F8C1-3D82-44B2-88E6-2946F096D0A8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511812" y="2430030"/>
            <a:ext cx="18360000" cy="11079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lvl1pPr algn="ctr">
              <a:buNone/>
              <a:defRPr sz="8000">
                <a:solidFill>
                  <a:schemeClr val="tx1"/>
                </a:solidFill>
              </a:defRPr>
            </a:lvl1pPr>
          </a:lstStyle>
          <a:p xmlns:a="http://schemas.openxmlformats.org/drawingml/2006/main">
            <a:r>
              <a:t>Название </a:t>
            </a:r>
          </a:p>
        </p:txBody>
      </p:sp>
      <p:pic>
        <p:nvPicPr>
          <p:cNvPr id="4" name="Рисунок 5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b19099dd294f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449128" y="28581063"/>
            <a:ext cx="2302644" cy="627066"/>
          </a:xfrm>
          <a:prstGeom xmlns:a="http://schemas.openxmlformats.org/drawingml/2006/main" prst="rect">
            <a:avLst/>
          </a:prstGeom>
        </p:spPr>
      </p:pic>
      <p:pic>
        <p:nvPicPr>
          <p:cNvPr id="5" name="Рисунок 6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6388a8144244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4956286" y="28609881"/>
            <a:ext cx="2265908" cy="542369"/>
          </a:xfrm>
          <a:prstGeom xmlns:a="http://schemas.openxmlformats.org/drawingml/2006/main" prst="rect">
            <a:avLst/>
          </a:prstGeom>
        </p:spPr>
      </p:pic>
      <p:sp>
        <p:nvSpPr>
          <p:cNvPr id="62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911521AD-ED2F-4070-A5C9-069811C93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377" y="29467207"/>
            <a:ext cx="3024450" cy="27699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b">
            <a:sp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ctr">
              <a:buNone/>
            </a:pPr>
            <a:r>
              <a:rPr sz="2000">
                <a:solidFill>
                  <a:schemeClr val="bg1">
                    <a:lumMod val="65000"/>
                  </a:schemeClr>
                </a:solidFill>
                <a:latin typeface="Arial"/>
                <a:ea typeface="Arial"/>
                <a:cs typeface="Arial"/>
              </a:rPr>
              <a:t>Генеральный партнёр</a:t>
            </a:r>
          </a:p>
        </p:txBody>
      </p:sp>
      <p:sp>
        <p:nvSpPr>
          <p:cNvPr id="63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D0370A2-F3C5-4982-864E-FD69C694F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09662" y="29467207"/>
            <a:ext cx="2976199" cy="27699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b">
            <a:sp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ctr">
              <a:buNone/>
            </a:pPr>
            <a:r>
              <a:rPr sz="2000">
                <a:solidFill>
                  <a:schemeClr val="bg1">
                    <a:lumMod val="65000"/>
                  </a:schemeClr>
                </a:solidFill>
                <a:latin typeface="Arial"/>
                <a:ea typeface="Arial"/>
                <a:cs typeface="Arial"/>
              </a:rPr>
              <a:t>Партнёр</a:t>
            </a: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da345cfa5a346b1" /><Relationship Type="http://schemas.openxmlformats.org/officeDocument/2006/relationships/slideLayout" Target="/ppt/slideLayouts/slideLayout1.xml" Id="Rbb3d70efb3734051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b3d70efb3734051"/>
  </p:sldLayoutIdLst>
  <p:txStyles>
    <p:titleStyle>
      <a:lvl1pPr xmlns:a="http://schemas.openxmlformats.org/drawingml/2006/main" algn="l">
        <a:lnSpc>
          <a:spcPct val="90000"/>
        </a:lnSpc>
        <a:buNone/>
        <a:defRPr sz="10289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534581" indent="-534581" algn="l">
        <a:lnSpc>
          <a:spcPct val="90000"/>
        </a:lnSpc>
        <a:spcBef>
          <a:spcPts val="2339"/>
        </a:spcBef>
        <a:buChar char="•"/>
        <a:defRPr sz="6548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1603743" indent="-534581" algn="l">
        <a:lnSpc>
          <a:spcPct val="90000"/>
        </a:lnSpc>
        <a:spcBef>
          <a:spcPts val="1169"/>
        </a:spcBef>
        <a:buChar char="•"/>
        <a:defRPr sz="5612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2672906" indent="-534581" algn="l">
        <a:lnSpc>
          <a:spcPct val="90000"/>
        </a:lnSpc>
        <a:spcBef>
          <a:spcPts val="1169"/>
        </a:spcBef>
        <a:buChar char="•"/>
        <a:defRPr sz="4677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3742068" indent="-534581" algn="l">
        <a:lnSpc>
          <a:spcPct val="90000"/>
        </a:lnSpc>
        <a:spcBef>
          <a:spcPts val="1169"/>
        </a:spcBef>
        <a:buChar char="•"/>
        <a:defRPr sz="4209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4811230" indent="-534581" algn="l">
        <a:lnSpc>
          <a:spcPct val="90000"/>
        </a:lnSpc>
        <a:spcBef>
          <a:spcPts val="1169"/>
        </a:spcBef>
        <a:buChar char="•"/>
        <a:defRPr sz="4209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5880392" indent="-534581" algn="l">
        <a:lnSpc>
          <a:spcPct val="90000"/>
        </a:lnSpc>
        <a:spcBef>
          <a:spcPts val="1169"/>
        </a:spcBef>
        <a:buChar char="•"/>
        <a:defRPr sz="4209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6949554" indent="-534581" algn="l">
        <a:lnSpc>
          <a:spcPct val="90000"/>
        </a:lnSpc>
        <a:spcBef>
          <a:spcPts val="1169"/>
        </a:spcBef>
        <a:buChar char="•"/>
        <a:defRPr sz="4209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8018717" indent="-534581" algn="l">
        <a:lnSpc>
          <a:spcPct val="90000"/>
        </a:lnSpc>
        <a:spcBef>
          <a:spcPts val="1169"/>
        </a:spcBef>
        <a:buChar char="•"/>
        <a:defRPr sz="4209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9087879" indent="-534581" algn="l">
        <a:lnSpc>
          <a:spcPct val="90000"/>
        </a:lnSpc>
        <a:spcBef>
          <a:spcPts val="1169"/>
        </a:spcBef>
        <a:buChar char="•"/>
        <a:defRPr sz="4209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1069162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2138324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3207487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4276649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5345811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6414973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7484135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8553298" algn="l">
        <a:buNone/>
        <a:defRPr sz="4209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Тема Office">
  <a:themeElements>
    <a:clrScheme name="AIRI Summer">
      <a:dk1>
        <a:srgbClr val="000000"/>
      </a:dk1>
      <a:lt1>
        <a:srgbClr val="FFFFFF"/>
      </a:lt1>
      <a:dk2>
        <a:srgbClr val="494949"/>
      </a:dk2>
      <a:lt2>
        <a:srgbClr val="F2EEE9"/>
      </a:lt2>
      <a:accent1>
        <a:srgbClr val="1D51C8"/>
      </a:accent1>
      <a:accent2>
        <a:srgbClr val="988CFF"/>
      </a:accent2>
      <a:accent3>
        <a:srgbClr val="A5A5A5"/>
      </a:accent3>
      <a:accent4>
        <a:srgbClr val="FFD027"/>
      </a:accent4>
      <a:accent5>
        <a:srgbClr val="50C0FF"/>
      </a:accent5>
      <a:accent6>
        <a:srgbClr val="3ED0B9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IRI Summer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555864cfae4fe3" /><Relationship Type="http://schemas.openxmlformats.org/officeDocument/2006/relationships/hyperlink" Target="https://github.com/Vladislav-Lp/dora-sanity-experiment" TargetMode="External" Id="R8edebec4c7da4c97" /><Relationship Type="http://schemas.openxmlformats.org/officeDocument/2006/relationships/image" Target="/ppt/media/image5.png" Id="Rb85b9e7012104491" /><Relationship Type="http://schemas.openxmlformats.org/officeDocument/2006/relationships/image" Target="/ppt/media/image6.png" Id="Re642377f71264de3" /><Relationship Type="http://schemas.openxmlformats.org/officeDocument/2006/relationships/notesSlide" Target="/ppt/notesSlides/notesSlide1.xml" Id="R0d2211d34f0a42b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35F437BD-98F8-7B42-921D-B072EC2BB7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11812" y="2430030"/>
            <a:ext cx="18360000" cy="1246495"/>
          </a:xfr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54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54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DoRA vs LoRA: когда декомпозиция весов помогает?</a:t>
            </a:r>
          </a:p>
        </p:txBody>
      </p:sp>
      <p:sp>
        <p:nvSpPr>
          <p:cNvPr id="9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F964CF7-1659-7147-B572-E13A52A01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4660" y="4258828"/>
            <a:ext cx="12194304" cy="49743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rmAutofit fontScale="100000"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ctr">
              <a:lnSpc>
                <a:spcPct val="102000"/>
              </a:lnSpc>
              <a:buNone/>
              <a:defRPr sz="3200" b="0">
                <a:solidFill>
                  <a:srgbClr val="5B6268"/>
                </a:solidFill>
                <a:latin typeface="Arial"/>
                <a:ea typeface="Arial"/>
                <a:cs typeface="Arial"/>
              </a:defRPr>
            </a:pPr>
            <a:r>
              <a:rPr sz="3200" b="0">
                <a:solidFill>
                  <a:srgbClr val="5B6268"/>
                </a:solidFill>
                <a:latin typeface="Arial"/>
                <a:ea typeface="Arial"/>
                <a:cs typeface="Arial"/>
              </a:rPr>
              <a:t>Владислав Лапин · МФТИ ФПМИ / AI360</a:t>
            </a:r>
          </a:p>
        </p:txBody>
      </p:sp>
      <p:sp>
        <p:nvSpPr>
          <p:cNvPr id="6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22F7037B-A9E7-804C-A32F-F530F150E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0382" y="10942257"/>
            <a:ext cx="8328874" cy="147732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rmAutofit fontScale="100000"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94000"/>
              </a:lnSpc>
              <a:buNone/>
              <a:defRPr sz="4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Главный результат</a:t>
            </a:r>
          </a:p>
        </p:txBody>
      </p:sp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8EFEBC4B-1CC1-914C-ACE6-C9FD0FDF9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0382" y="15969491"/>
            <a:ext cx="8328874" cy="457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17D5A267-4A77-C249-B8B6-14811E2CC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2938" y="12833810"/>
            <a:ext cx="8328874" cy="3209810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rmAutofit fontScale="100000"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marL="24" indent="-14" algn="l">
              <a:lnSpc>
                <a:spcPct val="96000"/>
              </a:lnSpc>
              <a:spcAft>
                <a:spcPts val="7"/>
              </a:spcAft>
              <a:buNone/>
              <a:defRPr sz="228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28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Синтетика, r=4, γ=.8: </a:t>
            </a:r>
            <a:r>
              <a:rPr sz="228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LoRA oracle error = 0.2923; DoRA ≤ 1.5×10⁻⁷. При γ=0 обе ошибки ≈0.</a:t>
            </a:r>
          </a:p>
          <a:p xmlns:a="http://schemas.openxmlformats.org/drawingml/2006/main">
            <a:pPr marL="24" indent="-14" algn="l">
              <a:lnSpc>
                <a:spcPct val="96000"/>
              </a:lnSpc>
              <a:spcAft>
                <a:spcPts val="7"/>
              </a:spcAft>
              <a:buNone/>
              <a:defRPr sz="228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28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Реальные shifts, r=4: </a:t>
            </a:r>
            <a:r>
              <a:rPr sz="228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DoRA−LoRA = +0.33 pp contrast, +0.67 pp rotation, +1.39 pp mixed; CI &gt; 0 для rotation и mixed.</a:t>
            </a:r>
          </a:p>
          <a:p xmlns:a="http://schemas.openxmlformats.org/drawingml/2006/main">
            <a:pPr marL="24" indent="-14" algn="l">
              <a:lnSpc>
                <a:spcPct val="96000"/>
              </a:lnSpc>
              <a:spcAft>
                <a:spcPts val="7"/>
              </a:spcAft>
              <a:buNone/>
              <a:defRPr sz="228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28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Контрпример: </a:t>
            </a:r>
            <a:r>
              <a:rPr sz="228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rotation r=8 - LoRA 94.61%, DoRA 94.22%. Универсального превосходства нет.</a:t>
            </a:r>
          </a:p>
        </p:txBody>
      </p:sp>
      <p:sp>
        <p:nvSpPr>
          <p:cNvPr id="11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EDBD61F-81A5-394C-888C-55CD3C1C2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0382" y="20773642"/>
            <a:ext cx="8328874" cy="3108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rmAutofit fontScale="100000"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2000" b="0">
                <a:solidFill>
                  <a:srgbClr val="5B6268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5B6268"/>
                </a:solidFill>
                <a:latin typeface="Arial"/>
                <a:ea typeface="Arial"/>
                <a:cs typeface="Arial"/>
              </a:rPr>
              <a:t>Рис. 2. Capacity gap и paired test gain; среднее ± 95% CI, 5 seeds.</a:t>
            </a:r>
          </a:p>
        </p:txBody>
      </p:sp>
      <p:sp>
        <p:nvSpPr>
          <p:cNvPr id="12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777D2B1B-83DE-4E47-8FA4-305FD5DAE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2323" y="6653687"/>
            <a:ext cx="8328874" cy="7386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rmAutofit fontScale="100000"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94000"/>
              </a:lnSpc>
              <a:buNone/>
              <a:defRPr sz="4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Мотивация</a:t>
            </a:r>
          </a:p>
        </p:txBody>
      </p:sp>
      <p:sp>
        <p:nvSpPr>
          <p:cNvPr id="13" name="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7F2C556B-62C1-8B47-B96E-BAAD9575C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12" y="12353589"/>
            <a:ext cx="8328874" cy="457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E7D44248-8FEB-1D4C-88DA-BAC694E0F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67" y="7624916"/>
            <a:ext cx="8328874" cy="4197362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rmAutofit fontScale="100000"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marL="24" indent="-14" algn="l">
              <a:lnSpc>
                <a:spcPct val="100000"/>
              </a:lnSpc>
              <a:spcAft>
                <a:spcPts val="7"/>
              </a:spcAft>
              <a:buNone/>
              <a:defRPr sz="24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Full fine-tuning </a:t>
            </a:r>
            <a:r>
              <a:rPr sz="24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точен, но обновляет все параметры. LoRA дешевле, однако одна low-rank поправка одновременно меняет норму и направление строк W.</a:t>
            </a:r>
          </a:p>
          <a:p xmlns:a="http://schemas.openxmlformats.org/drawingml/2006/main">
            <a:pPr marL="24" indent="-14" algn="l">
              <a:lnSpc>
                <a:spcPct val="100000"/>
              </a:lnSpc>
              <a:spcAft>
                <a:spcPts val="7"/>
              </a:spcAft>
              <a:buNone/>
              <a:defRPr sz="24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DoRA </a:t>
            </a:r>
            <a:r>
              <a:rPr sz="24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задаёт Ŵ = m ⊙ V / ‖V‖₂, где V = W₀ + BA: BA отвечает за направление, m - за масштаб каждой строки.</a:t>
            </a:r>
          </a:p>
          <a:p xmlns:a="http://schemas.openxmlformats.org/drawingml/2006/main">
            <a:pPr marL="24" indent="-14" algn="l">
              <a:lnSpc>
                <a:spcPct val="100000"/>
              </a:lnSpc>
              <a:spcAft>
                <a:spcPts val="7"/>
              </a:spcAft>
              <a:buNone/>
              <a:defRPr sz="24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Исследовательский вопрос: </a:t>
            </a:r>
            <a:r>
              <a:rPr sz="24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когда дополнительные magnitude-параметры действительно дают преимущество, а когда LoRA достаточно?</a:t>
            </a:r>
          </a:p>
        </p:txBody>
      </p:sp>
      <p:sp>
        <p:nvSpPr>
          <p:cNvPr id="15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EED20C35-7642-9F4E-A3BB-8C1184CC7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67" y="17166206"/>
            <a:ext cx="8328874" cy="6217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rmAutofit fontScale="100000"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2000" b="0">
                <a:solidFill>
                  <a:srgbClr val="5B6268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5B6268"/>
                </a:solidFill>
                <a:latin typeface="Arial"/>
                <a:ea typeface="Arial"/>
                <a:cs typeface="Arial"/>
              </a:rPr>
              <a:t>Рис. 1. LoRA связывает масштаб и направление; DoRA разделяет их явно.</a:t>
            </a:r>
          </a:p>
        </p:txBody>
      </p:sp>
      <p:sp>
        <p:nvSpPr>
          <p:cNvPr id="16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BDA94D2-6FBE-464B-88DE-372089264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67" y="18111914"/>
            <a:ext cx="8328874" cy="7386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rmAutofit fontScale="100000"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94000"/>
              </a:lnSpc>
              <a:buNone/>
              <a:defRPr sz="4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Гипотезы и метрики</a:t>
            </a:r>
          </a:p>
        </p:txBody>
      </p:sp>
      <p:sp>
        <p:nvSpPr>
          <p:cNvPr id="17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DB942A2-5D0C-DD4B-8C75-0B6799E88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67" y="19092852"/>
            <a:ext cx="8328874" cy="3950474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rmAutofit fontScale="100000"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marL="24" indent="-14" algn="l">
              <a:lnSpc>
                <a:spcPct val="99000"/>
              </a:lnSpc>
              <a:spcAft>
                <a:spcPts val="7"/>
              </a:spcAft>
              <a:buNone/>
              <a:defRPr sz="23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3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H1 · аддитивный target (γ = 0): </a:t>
            </a:r>
            <a:r>
              <a:rPr sz="23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при rank ≥ 4 методы должны совпасть.</a:t>
            </a:r>
          </a:p>
          <a:p xmlns:a="http://schemas.openxmlformats.org/drawingml/2006/main">
            <a:pPr marL="24" indent="-14" algn="l">
              <a:lnSpc>
                <a:spcPct val="99000"/>
              </a:lnSpc>
              <a:spcAft>
                <a:spcPts val="7"/>
              </a:spcAft>
              <a:buNone/>
              <a:defRPr sz="23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3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H2 · неоднородный row scaling (γ &gt; 0): </a:t>
            </a:r>
            <a:r>
              <a:rPr sz="23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разрыв ёмкости LoRA растёт; DoRA сохраняет точность.</a:t>
            </a:r>
          </a:p>
          <a:p xmlns:a="http://schemas.openxmlformats.org/drawingml/2006/main">
            <a:pPr marL="24" indent="-14" algn="l">
              <a:lnSpc>
                <a:spcPct val="99000"/>
              </a:lnSpc>
              <a:spcAft>
                <a:spcPts val="7"/>
              </a:spcAft>
              <a:buNone/>
              <a:defRPr sz="23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3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H3 · реальные shifts: </a:t>
            </a:r>
            <a:r>
              <a:rPr sz="23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выигрыш будет умеренным и зависимым от геометрии сдвига.</a:t>
            </a:r>
          </a:p>
          <a:p xmlns:a="http://schemas.openxmlformats.org/drawingml/2006/main">
            <a:pPr algn="l">
              <a:lnSpc>
                <a:spcPct val="99000"/>
              </a:lnSpc>
              <a:spcAft>
                <a:spcPts val="0"/>
              </a:spcAft>
              <a:buNone/>
              <a:defRPr sz="23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3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Метрики: </a:t>
            </a:r>
            <a:r>
              <a:rPr sz="23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relative Frobenius error; test accuracy; paired DoRA−LoRA с 95% t-CI; число trainable parameters.</a:t>
            </a:r>
          </a:p>
        </p:txBody>
      </p:sp>
      <p:sp>
        <p:nvSpPr>
          <p:cNvPr id="18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3F137435-49A1-964A-A726-238A5F109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12" y="22938553"/>
            <a:ext cx="8328874" cy="7386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rmAutofit fontScale="100000"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94000"/>
              </a:lnSpc>
              <a:buNone/>
              <a:defRPr sz="4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Протокол</a:t>
            </a:r>
          </a:p>
        </p:txBody>
      </p:sp>
      <p:sp>
        <p:nvSpPr>
          <p:cNvPr id="19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2A14AC1E-18FC-CC42-B9F3-E2F1B0325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67" y="23952775"/>
            <a:ext cx="8328874" cy="3580142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rmAutofit fontScale="100000"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marL="24" indent="-14" algn="l">
              <a:lnSpc>
                <a:spcPct val="98000"/>
              </a:lnSpc>
              <a:spcAft>
                <a:spcPts val="7"/>
              </a:spcAft>
              <a:buNone/>
              <a:defRPr sz="23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Capacity test: </a:t>
            </a:r>
            <a:r>
              <a:rPr sz="23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W★ = diag(1 + γz)(W₀ + Δr=4); γ = 0…0.8, ranks 1/2/4/8, 10 seeds. LoRA - точный SVD oracle.</a:t>
            </a:r>
          </a:p>
          <a:p xmlns:a="http://schemas.openxmlformats.org/drawingml/2006/main">
            <a:pPr marL="24" indent="-14" algn="l">
              <a:lnSpc>
                <a:spcPct val="98000"/>
              </a:lnSpc>
              <a:spcAft>
                <a:spcPts val="7"/>
              </a:spcAft>
              <a:buNone/>
              <a:defRPr sz="23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Real-data test: </a:t>
            </a:r>
            <a:r>
              <a:rPr sz="23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Digits; MLP 64→128→64→10; 400 адаптационных примеров; contrast, rotation и mixed; 5 paired seeds.</a:t>
            </a:r>
          </a:p>
          <a:p xmlns:a="http://schemas.openxmlformats.org/drawingml/2006/main">
            <a:pPr marL="24" indent="-14" algn="l">
              <a:lnSpc>
                <a:spcPct val="98000"/>
              </a:lnSpc>
              <a:spcAft>
                <a:spcPts val="7"/>
              </a:spcAft>
              <a:buNone/>
              <a:defRPr sz="23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Без утечки: </a:t>
            </a:r>
            <a:r>
              <a:rPr sz="23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LR и early stopping выбирались по validation; test применён один раз. Контроли: frozen, magnitude-only, full FT.</a:t>
            </a:r>
          </a:p>
        </p:txBody>
      </p:sp>
      <p:sp>
        <p:nvSpPr>
          <p:cNvPr id="24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00E0579D-4745-7A49-9210-5699A8300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2427" y="21671044"/>
            <a:ext cx="8328874" cy="7386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rmAutofit fontScale="100000"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94000"/>
              </a:lnSpc>
              <a:buNone/>
              <a:defRPr sz="4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Практический вывод</a:t>
            </a:r>
          </a:p>
        </p:txBody>
      </p:sp>
      <p:sp>
        <p:nvSpPr>
          <p:cNvPr id="25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5D89536-B5CF-7D41-BE7A-E932D7649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0382" y="22767227"/>
            <a:ext cx="8328874" cy="5308536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rmAutofit fontScale="100000"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marL="24" indent="-14" algn="l">
              <a:lnSpc>
                <a:spcPct val="96000"/>
              </a:lnSpc>
              <a:spcAft>
                <a:spcPts val="7"/>
              </a:spcAft>
              <a:buNone/>
              <a:defRPr sz="222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22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Mixed, r=4: </a:t>
            </a:r>
            <a:r>
              <a:rPr sz="222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Frozen 50.83 · m-only 65.89 · LoRA 73.33 · DoRA 74.72 · Full FT 73.33%.</a:t>
            </a:r>
          </a:p>
          <a:p xmlns:a="http://schemas.openxmlformats.org/drawingml/2006/main">
            <a:pPr marL="24" indent="-14" algn="l">
              <a:lnSpc>
                <a:spcPct val="96000"/>
              </a:lnSpc>
              <a:spcAft>
                <a:spcPts val="7"/>
              </a:spcAft>
              <a:buNone/>
              <a:defRPr sz="222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22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Mixed, r=8: </a:t>
            </a:r>
            <a:r>
              <a:rPr sz="222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DoRA 77.33% против LoRA 75.44%.</a:t>
            </a:r>
          </a:p>
          <a:p xmlns:a="http://schemas.openxmlformats.org/drawingml/2006/main">
            <a:pPr marL="24" indent="-14" algn="l">
              <a:lnSpc>
                <a:spcPct val="96000"/>
              </a:lnSpc>
              <a:spcAft>
                <a:spcPts val="7"/>
              </a:spcAft>
              <a:buNone/>
              <a:defRPr sz="222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22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Бюджет r=4: </a:t>
            </a:r>
            <a:r>
              <a:rPr sz="222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DoRA 2,034; LoRA 1,832 (+11%); full FT 17,226 trainable parameters.</a:t>
            </a:r>
          </a:p>
          <a:p xmlns:a="http://schemas.openxmlformats.org/drawingml/2006/main">
            <a:pPr marL="24" indent="-14" algn="l">
              <a:lnSpc>
                <a:spcPct val="96000"/>
              </a:lnSpc>
              <a:spcAft>
                <a:spcPts val="7"/>
              </a:spcAft>
              <a:buNone/>
              <a:defRPr sz="222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22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Validation-selected mixed: </a:t>
            </a:r>
            <a:r>
              <a:rPr sz="222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DoRA 76.72 · LoRA 75.28 · full FT 73.33%.</a:t>
            </a:r>
          </a:p>
          <a:p xmlns:a="http://schemas.openxmlformats.org/drawingml/2006/main">
            <a:pPr algn="l">
              <a:lnSpc>
                <a:spcPct val="96000"/>
              </a:lnSpc>
              <a:spcAft>
                <a:spcPts val="7"/>
              </a:spcAft>
              <a:buNone/>
              <a:defRPr sz="222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22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Итог: </a:t>
            </a:r>
            <a:r>
              <a:rPr sz="222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DoRA оправдана, когда ожидается drift норм строк и особенно важен малый rank. В остальных случаях LoRA остаётся сильным baseline.</a:t>
            </a:r>
          </a:p>
          <a:p xmlns:a="http://schemas.openxmlformats.org/drawingml/2006/main">
            <a:pPr algn="l">
              <a:lnSpc>
                <a:spcPct val="96000"/>
              </a:lnSpc>
              <a:spcAft>
                <a:spcPts val="0"/>
              </a:spcAft>
              <a:buNone/>
              <a:defRPr sz="222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22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Ограничения: </a:t>
            </a:r>
            <a:r>
              <a:rPr sz="222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малый MLP/dataset, 5 seeds; не измерены transformer-scale качество и throughput.</a:t>
            </a:r>
          </a:p>
        </p:txBody>
      </p:sp>
      <p:sp>
        <p:nvSpPr>
          <p:cNvPr id="27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8E8B3B8D-29F0-0743-BF4F-96A6C906B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2427" y="6653687"/>
            <a:ext cx="8328874" cy="7386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rmAutofit fontScale="100000"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94000"/>
              </a:lnSpc>
              <a:buNone/>
              <a:defRPr sz="48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Два уровня проверки</a:t>
            </a:r>
          </a:p>
        </p:txBody>
      </p:sp>
      <p:sp>
        <p:nvSpPr>
          <p:cNvPr id="28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07872322-45B8-0849-889C-1F819F04B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2938" y="7624916"/>
            <a:ext cx="8328874" cy="2962922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t">
            <a:normAutofit fontScale="100000"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marL="24" indent="-14" algn="l">
              <a:lnSpc>
                <a:spcPct val="99000"/>
              </a:lnSpc>
              <a:spcAft>
                <a:spcPts val="7"/>
              </a:spcAft>
              <a:buNone/>
              <a:defRPr sz="23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3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Ёмкость: </a:t>
            </a:r>
            <a:r>
              <a:rPr sz="23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может ли параметризация выразить целевую матрицу без влияния оптимизатора?</a:t>
            </a:r>
          </a:p>
          <a:p xmlns:a="http://schemas.openxmlformats.org/drawingml/2006/main">
            <a:pPr marL="24" indent="-14" algn="l">
              <a:lnSpc>
                <a:spcPct val="99000"/>
              </a:lnSpc>
              <a:spcAft>
                <a:spcPts val="7"/>
              </a:spcAft>
              <a:buNone/>
              <a:defRPr sz="23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3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Обучение: </a:t>
            </a:r>
            <a:r>
              <a:rPr sz="23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сохраняется ли эффект при конечных данных, SGD и выборе гиперпараметров?</a:t>
            </a:r>
          </a:p>
          <a:p xmlns:a="http://schemas.openxmlformats.org/drawingml/2006/main">
            <a:pPr marL="24" indent="-14" algn="l">
              <a:lnSpc>
                <a:spcPct val="99000"/>
              </a:lnSpc>
              <a:spcAft>
                <a:spcPts val="7"/>
              </a:spcAft>
              <a:buNone/>
              <a:defRPr sz="23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3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Фальсифицируемость: </a:t>
            </a:r>
            <a:r>
              <a:rPr sz="23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γ = 0, contrast shift и rotation r=8 служат отрицательными примерами.</a:t>
            </a:r>
          </a:p>
        </p:txBody>
      </p:sp>
      <p:sp>
        <p:nvSpPr>
          <p:cNvPr id="35" name="Прямая соединительная линия 34">
            <a:extLst xmlns:a="http://schemas.openxmlformats.org/drawingml/2006/main">
              <a:ext uri="{FF2B5EF4-FFF2-40B4-BE49-F238E27FC236}">
                <a16:creationId xmlns:a16="http://schemas.microsoft.com/office/drawing/2014/main" id="{EB946C9F-BF3E-4996-800C-CB832F24F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1045" y="6653687"/>
            <a:ext cx="0" cy="20680342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7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8CEC3D49-17C8-C442-8612-0666054A9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11" y="29460098"/>
            <a:ext cx="16893945" cy="3108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rmAutofit fontScale="100000"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2000" b="0">
                <a:solidFill>
                  <a:srgbClr val="5B6268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5B6268"/>
                </a:solidFill>
                <a:latin typeface="Arial"/>
                <a:ea typeface="Arial"/>
                <a:cs typeface="Arial"/>
              </a:rPr>
              <a:t>[3] scikit-learn Digits; код, seeds, CSV и notebook - GitHub (QR).</a:t>
            </a:r>
          </a:p>
        </p:txBody>
      </p:sp>
      <p:sp>
        <p:nvSpPr>
          <p:cNvPr id="22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FD51292E-7EEB-3D48-87CF-183BB16B7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11" y="29021186"/>
            <a:ext cx="16893945" cy="3108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rmAutofit fontScale="100000"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2000" b="0">
                <a:solidFill>
                  <a:srgbClr val="5B6268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5B6268"/>
                </a:solidFill>
                <a:latin typeface="Arial"/>
                <a:ea typeface="Arial"/>
                <a:cs typeface="Arial"/>
              </a:rPr>
              <a:t>[2] Hu et al. LoRA: Low-Rank Adaptation of Large Language Models. ICLR 2022.</a:t>
            </a:r>
          </a:p>
        </p:txBody>
      </p:sp>
      <p:sp>
        <p:nvSpPr>
          <p:cNvPr id="23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2D635EC2-8653-2A4C-8EB8-43B66B881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11" y="28545698"/>
            <a:ext cx="16893945" cy="3108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rmAutofit fontScale="100000"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2000" b="0">
                <a:solidFill>
                  <a:srgbClr val="5B6268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5B6268"/>
                </a:solidFill>
                <a:latin typeface="Arial"/>
                <a:ea typeface="Arial"/>
                <a:cs typeface="Arial"/>
              </a:rPr>
              <a:t>[1] Liu et al. DoRA: Weight-Decomposed Low-Rank Adaptation. ICML 2024, PMLR 235.</a:t>
            </a:r>
          </a:p>
        </p:txBody>
      </p:sp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D19FED38-DB74-2F48-BCF3-EAD7C3718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0906" y="28225476"/>
            <a:ext cx="1591419" cy="1591419"/>
          </a:xfrm>
          <a:prstGeom xmlns:a="http://schemas.openxmlformats.org/drawingml/2006/main" prst="roundRect">
            <a:avLst>
              <a:gd name="adj" fmla="val 11576"/>
            </a:avLst>
          </a:prstGeom>
          <a:solidFill xmlns:a="http://schemas.openxmlformats.org/drawingml/2006/main">
            <a:schemeClr val="bg1">
              <a:lumMod val="85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Скругленный прямоугольник 29">
            <a:extLst xmlns:a="http://schemas.openxmlformats.org/drawingml/2006/main">
              <a:ext uri="{FF2B5EF4-FFF2-40B4-BE49-F238E27FC236}">
                <a16:creationId xmlns:a16="http://schemas.microsoft.com/office/drawing/2014/main" id="{9B16BF6B-030C-4346-A6FA-EAA603EF4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37425" y="28381995"/>
            <a:ext cx="1278380" cy="1278380"/>
          </a:xfrm>
          <a:prstGeom xmlns:a="http://schemas.openxmlformats.org/drawingml/2006/main" prst="roundRect">
            <a:avLst>
              <a:gd name="adj" fmla="val 115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Заголовок 4">
            <a:extLst xmlns:a="http://schemas.openxmlformats.org/drawingml/2006/main">
              <a:ext uri="{FF2B5EF4-FFF2-40B4-BE49-F238E27FC236}">
                <a16:creationId xmlns:a16="http://schemas.microsoft.com/office/drawing/2014/main" id="{C4891C96-3C4F-E349-8BB1-537E0F819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35600" y="29870400"/>
            <a:ext cx="1885950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0" rIns="0" bIns="0" anchor="ctr">
            <a:normAutofit fontScale="100000"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90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ctr">
              <a:lnSpc>
                <a:spcPct val="92000"/>
              </a:lnSpc>
              <a:buNone/>
              <a:defRPr sz="1650" b="1">
                <a:solidFill>
                  <a:srgbClr val="087F7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87F78"/>
                </a:solidFill>
                <a:latin typeface="Arial"/>
                <a:ea typeface="Arial"/>
                <a:cs typeface="Arial"/>
                <a:hlinkClick xmlns:r="http://schemas.openxmlformats.org/officeDocument/2006/relationships" r:id="R8edebec4c7da4c97"/>
              </a:rPr>
              <a:t>КОД И CSV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41DF444-88C1-40C3-B730-22B5E5179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08" y="13020294"/>
            <a:ext cx="1000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2400" b="1">
                <a:solidFill>
                  <a:srgbClr val="5A91A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A91AA"/>
                </a:solidFill>
                <a:latin typeface="Arial"/>
                <a:ea typeface="Arial"/>
                <a:cs typeface="Arial"/>
              </a:rPr>
              <a:t>LoRA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63610E1-7DD1-4056-BE36-0BC0A8D2C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808" y="15001494"/>
            <a:ext cx="1000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2400" b="1">
                <a:solidFill>
                  <a:srgbClr val="087F78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87F78"/>
                </a:solidFill>
                <a:latin typeface="Arial"/>
                <a:ea typeface="Arial"/>
                <a:cs typeface="Arial"/>
              </a:rPr>
              <a:t>DoRA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6724CAF-B690-4BAC-B83A-E2EE51DC9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4808" y="12810744"/>
            <a:ext cx="10668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3F5F6"/>
          </a:solidFill>
          <a:ln xmlns:a="http://schemas.openxmlformats.org/drawingml/2006/main" w="19050">
            <a:solidFill>
              <a:srgbClr val="A7AFB4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23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W₀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C27AE4C-6C09-466E-866E-3465FD301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9358" y="12810744"/>
            <a:ext cx="12573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5D8"/>
          </a:solidFill>
          <a:ln xmlns:a="http://schemas.openxmlformats.org/drawingml/2006/main" w="19050">
            <a:solidFill>
              <a:srgbClr val="C99A24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22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+ BA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8CA0E78-8D0E-440E-A31D-AAF2F3349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4958" y="12810744"/>
            <a:ext cx="18669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DF5FA"/>
          </a:solidFill>
          <a:ln xmlns:a="http://schemas.openxmlformats.org/drawingml/2006/main" w="19050">
            <a:solidFill>
              <a:srgbClr val="5A91AA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Ŵ = W₀ + BA</a:t>
            </a:r>
          </a:p>
        </p:txBody>
      </p:sp>
      <p:cxnSp>
        <p:nvCxnSpPr>
          <p:cNvPr id="87" name=""/>
          <p:cNvCxnSpPr>
            <a:stCxn xmlns:a="http://schemas.openxmlformats.org/drawingml/2006/main" id="40" idx="3"/>
            <a:endCxn xmlns:a="http://schemas.openxmlformats.org/drawingml/2006/main" id="41" idx="1"/>
          </p:cNvCxnSpPr>
          <p:nvPr/>
        </p:nvCxnSpPr>
        <p:spPr>
          <a:xfrm xmlns:a="http://schemas.openxmlformats.org/drawingml/2006/main">
            <a:off x="3721608" y="13296519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5A91AA"/>
            </a:solidFill>
            <a:prstDash val="solid"/>
            <a:tailEnd type="triangle" w="med" len="med"/>
          </a:ln>
        </p:spPr>
      </p:cxnSp>
      <p:cxnSp>
        <p:nvCxnSpPr>
          <p:cNvPr id="88" name=""/>
          <p:cNvCxnSpPr>
            <a:stCxn xmlns:a="http://schemas.openxmlformats.org/drawingml/2006/main" id="41" idx="3"/>
            <a:endCxn xmlns:a="http://schemas.openxmlformats.org/drawingml/2006/main" id="42" idx="1"/>
          </p:cNvCxnSpPr>
          <p:nvPr/>
        </p:nvCxnSpPr>
        <p:spPr>
          <a:xfrm xmlns:a="http://schemas.openxmlformats.org/drawingml/2006/main">
            <a:off x="6026658" y="13296519"/>
            <a:ext cx="16383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5A91AA"/>
            </a:solidFill>
            <a:prstDash val="solid"/>
            <a:tailEnd type="triangle" w="med" len="med"/>
          </a:ln>
        </p:spPr>
      </p:cxn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2FA5031-BE2B-48B4-88B2-F23993622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4808" y="14753844"/>
            <a:ext cx="10668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3F5F6"/>
          </a:solidFill>
          <a:ln xmlns:a="http://schemas.openxmlformats.org/drawingml/2006/main" w="19050">
            <a:solidFill>
              <a:srgbClr val="A7AFB4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23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W₀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7C80243-8BDD-424F-87DA-C61CFC0BB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858" y="14753844"/>
            <a:ext cx="17526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5D8"/>
          </a:solidFill>
          <a:ln xmlns:a="http://schemas.openxmlformats.org/drawingml/2006/main" w="19050">
            <a:solidFill>
              <a:srgbClr val="C99A24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19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V = W₀ + BA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AD2BA60-3750-49A8-B7DA-24A22DEAA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9558" y="14753844"/>
            <a:ext cx="142875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8FAF8"/>
          </a:solidFill>
          <a:ln xmlns:a="http://schemas.openxmlformats.org/drawingml/2006/main" w="19050">
            <a:solidFill>
              <a:srgbClr val="23BFB5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20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V / ‖V‖₂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FFC1D0D-B46B-4391-80E8-1CE490A98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7408" y="14753844"/>
            <a:ext cx="142875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8FAF8"/>
          </a:solidFill>
          <a:ln xmlns:a="http://schemas.openxmlformats.org/drawingml/2006/main" w="19050">
            <a:solidFill>
              <a:srgbClr val="087F78"/>
            </a:solidFill>
            <a:prstDash val="solid"/>
          </a:ln>
        </p:spPr>
        <p:txBody>
          <a:bodyPr xmlns:a="http://schemas.openxmlformats.org/drawingml/2006/main" wrap="square" lIns="57150" tIns="47625" rIns="5715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1875" b="1">
                <a:solidFill>
                  <a:srgbClr val="087F7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87F78"/>
                </a:solidFill>
                <a:latin typeface="Arial"/>
                <a:ea typeface="Arial"/>
                <a:cs typeface="Arial"/>
              </a:rPr>
              <a:t>m ⊙ V/‖V‖₂</a:t>
            </a:r>
          </a:p>
        </p:txBody>
      </p:sp>
      <p:cxnSp>
        <p:nvCxnSpPr>
          <p:cNvPr id="93" name=""/>
          <p:cNvCxnSpPr>
            <a:stCxn xmlns:a="http://schemas.openxmlformats.org/drawingml/2006/main" id="45" idx="3"/>
            <a:endCxn xmlns:a="http://schemas.openxmlformats.org/drawingml/2006/main" id="46" idx="1"/>
          </p:cNvCxnSpPr>
          <p:nvPr/>
        </p:nvCxnSpPr>
        <p:spPr>
          <a:xfrm xmlns:a="http://schemas.openxmlformats.org/drawingml/2006/main">
            <a:off x="3721608" y="15239619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87F78"/>
            </a:solidFill>
            <a:prstDash val="solid"/>
            <a:tailEnd type="triangle" w="med" len="med"/>
          </a:ln>
        </p:spPr>
      </p:cxnSp>
      <p:cxnSp>
        <p:nvCxnSpPr>
          <p:cNvPr id="94" name=""/>
          <p:cNvCxnSpPr>
            <a:stCxn xmlns:a="http://schemas.openxmlformats.org/drawingml/2006/main" id="46" idx="3"/>
            <a:endCxn xmlns:a="http://schemas.openxmlformats.org/drawingml/2006/main" id="47" idx="1"/>
          </p:cNvCxnSpPr>
          <p:nvPr/>
        </p:nvCxnSpPr>
        <p:spPr>
          <a:xfrm xmlns:a="http://schemas.openxmlformats.org/drawingml/2006/main">
            <a:off x="5950458" y="15239619"/>
            <a:ext cx="4191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87F78"/>
            </a:solidFill>
            <a:prstDash val="solid"/>
            <a:tailEnd type="triangle" w="med" len="med"/>
          </a:ln>
        </p:spPr>
      </p:cxnSp>
      <p:cxnSp>
        <p:nvCxnSpPr>
          <p:cNvPr id="95" name=""/>
          <p:cNvCxnSpPr>
            <a:stCxn xmlns:a="http://schemas.openxmlformats.org/drawingml/2006/main" id="47" idx="3"/>
            <a:endCxn xmlns:a="http://schemas.openxmlformats.org/drawingml/2006/main" id="48" idx="1"/>
          </p:cNvCxnSpPr>
          <p:nvPr/>
        </p:nvCxnSpPr>
        <p:spPr>
          <a:xfrm xmlns:a="http://schemas.openxmlformats.org/drawingml/2006/main">
            <a:off x="7798308" y="15239619"/>
            <a:ext cx="4191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87F78"/>
            </a:solidFill>
            <a:prstDash val="solid"/>
            <a:tailEnd type="triangle" w="med" len="med"/>
          </a:ln>
        </p:spPr>
      </p:cxn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754FDEC-97A6-4839-844F-C8A084D4A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8108" y="15792069"/>
            <a:ext cx="1733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725" b="0">
                <a:solidFill>
                  <a:srgbClr val="5B626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B6268"/>
                </a:solidFill>
                <a:latin typeface="Arial"/>
                <a:ea typeface="Arial"/>
                <a:cs typeface="Arial"/>
              </a:rPr>
              <a:t>направление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1AB3E0B-210A-4645-963E-5C0CE30A7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958" y="15792069"/>
            <a:ext cx="1752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777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725" b="1">
                <a:solidFill>
                  <a:srgbClr val="087F78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87F78"/>
                </a:solidFill>
                <a:latin typeface="Arial"/>
                <a:ea typeface="Arial"/>
                <a:cs typeface="Arial"/>
              </a:rPr>
              <a:t>отдельная норма m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60515CC-C181-48B1-BD60-FBC6F2BCF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5758" y="16296894"/>
            <a:ext cx="6915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121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1800" b="0">
                <a:solidFill>
                  <a:srgbClr val="5B626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B6268"/>
                </a:solidFill>
                <a:latin typeface="Arial"/>
                <a:ea typeface="Arial"/>
                <a:cs typeface="Arial"/>
              </a:rPr>
              <a:t>Одинаковый rank r; у DoRA добавляется d_out magnitude-параметров.</a:t>
            </a:r>
          </a:p>
        </p:txBody>
      </p:sp>
      <p:pic>
        <p:nvPicPr>
          <p:cNvPr id="9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5b9e7012104491"/>
          <a:stretch xmlns:a="http://schemas.openxmlformats.org/drawingml/2006/main"/>
        </p:blipFill>
        <p:spPr>
          <a:xfrm xmlns:a="http://schemas.openxmlformats.org/drawingml/2006/main">
            <a:off x="11540395" y="16130343"/>
            <a:ext cx="8328851" cy="4250353"/>
          </a:xfrm>
          <a:prstGeom xmlns:a="http://schemas.openxmlformats.org/drawingml/2006/main" prst="rect">
            <a:avLst/>
          </a:prstGeom>
        </p:spPr>
      </p:pic>
      <p:pic>
        <p:nvPicPr>
          <p:cNvPr id="10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42377f71264de3"/>
          <a:stretch xmlns:a="http://schemas.openxmlformats.org/drawingml/2006/main"/>
        </p:blipFill>
        <p:spPr>
          <a:xfrm xmlns:a="http://schemas.openxmlformats.org/drawingml/2006/main">
            <a:off x="18437447" y="28382023"/>
            <a:ext cx="1278350" cy="12783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5841552"/>
      </p:ext>
    </p:extLst>
  </p:cSld>
</p:sld>
</file>

<file path=ppt/theme/theme1.xml><?xml version="1.0" encoding="utf-8"?>
<a:theme xmlns:a="http://schemas.openxmlformats.org/drawingml/2006/main" name="Тема Office">
  <a:themeElements>
    <a:clrScheme name="AIRI Summer">
      <a:dk1>
        <a:srgbClr val="000000"/>
      </a:dk1>
      <a:lt1>
        <a:srgbClr val="FFFFFF"/>
      </a:lt1>
      <a:dk2>
        <a:srgbClr val="494949"/>
      </a:dk2>
      <a:lt2>
        <a:srgbClr val="F2EEE9"/>
      </a:lt2>
      <a:accent1>
        <a:srgbClr val="1D51C8"/>
      </a:accent1>
      <a:accent2>
        <a:srgbClr val="988CFF"/>
      </a:accent2>
      <a:accent3>
        <a:srgbClr val="A5A5A5"/>
      </a:accent3>
      <a:accent4>
        <a:srgbClr val="FFD027"/>
      </a:accent4>
      <a:accent5>
        <a:srgbClr val="50C0FF"/>
      </a:accent5>
      <a:accent6>
        <a:srgbClr val="3ED0B9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IRI Summer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2026-07-16T21:52:46.5330000Z</dcterms:created>
  <dcterms:modified xsi:type="dcterms:W3CDTF">2026-07-16T21:52:46.5330000Z</dcterms:modified>
</coreProperties>
</file>
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809bcf95654dc4" /><Relationship Type="http://schemas.openxmlformats.org/officeDocument/2006/relationships/extended-properties" Target="/docProps/app.xml" Id="R3be3a25488634c35" /><Relationship Type="http://schemas.openxmlformats.org/officeDocument/2006/relationships/officeDocument" Target="/ppt/presentation.xml" Id="R7ac06386a1cd46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496daa97864a20"/>
  </p:sldMasterIdLst>
  <p:notesMasterIdLst>
    <p:notesMasterId xmlns:r="http://schemas.openxmlformats.org/officeDocument/2006/relationships" r:id="R91fb8d0b580148f0"/>
  </p:notesMasterIdLst>
  <p:sldIdLst>
    <p:sldId xmlns:r="http://schemas.openxmlformats.org/officeDocument/2006/relationships" id="256" r:id="Rdc7637082647466c"/>
  </p:sldIdLst>
  <p:sldSz cx="21383625" cy="3027521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bdb0dad3e24569" /><Relationship Type="http://schemas.openxmlformats.org/officeDocument/2006/relationships/slideMaster" Target="/ppt/slideMasters/slideMaster1.xml" Id="R41496daa97864a20" /><Relationship Type="http://schemas.openxmlformats.org/officeDocument/2006/relationships/notesMaster" Target="/ppt/notesMasters/notesMaster1.xml" Id="R91fb8d0b580148f0" /><Relationship Type="http://schemas.openxmlformats.org/officeDocument/2006/relationships/presProps" Target="/ppt/presProps.xml" Id="R1f0e46f6f1ae43a2" /><Relationship Type="http://schemas.openxmlformats.org/officeDocument/2006/relationships/viewProps" Target="/ppt/viewProps.xml" Id="R71a6142ece85455b" /><Relationship Type="http://schemas.openxmlformats.org/officeDocument/2006/relationships/tableStyles" Target="/ppt/tableStyles.xml" Id="R3240b0eed3af418e" /><Relationship Type="http://schemas.openxmlformats.org/officeDocument/2006/relationships/slide" Target="/ppt/slides/slide1.xml" Id="Rdc763708264746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3e9831a0547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RI Summ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dd589eb23c4346" /><Relationship Type="http://schemas.openxmlformats.org/officeDocument/2006/relationships/notesMaster" Target="/ppt/notesMasters/notesMaster1.xml" Id="Ra3727723a00b4c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ffa6d97ed4968" /><Relationship Type="http://schemas.openxmlformats.org/officeDocument/2006/relationships/image" Target="/ppt/media/image.png" Id="R926c640bdf9046c0" /><Relationship Type="http://schemas.openxmlformats.org/officeDocument/2006/relationships/image" Target="/ppt/media/image2.png" Id="Rcf630ab0e8fa4864" /><Relationship Type="http://schemas.openxmlformats.org/officeDocument/2006/relationships/image" Target="/ppt/media/image3.png" Id="Rc104d6f9bfbc4bc6" /><Relationship Type="http://schemas.openxmlformats.org/officeDocument/2006/relationships/image" Target="/ppt/media/image4.png" Id="R333c383b30d34ff3" /></Relationships>
</file>

<file path=ppt/slideLayouts/slideLayout1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c640bdf9046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951886" y="1138545"/>
            <a:ext cx="3919926" cy="340496"/>
          </a:xfrm>
          <a:prstGeom xmlns:a="http://schemas.openxmlformats.org/drawingml/2006/main" prst="rect">
            <a:avLst/>
          </a:prstGeom>
        </p:spPr>
      </p:pic>
      <p:pic>
        <p:nvPicPr>
          <p:cNvPr id="2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30ab0e8fa48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5478" y="555676"/>
            <a:ext cx="5917195" cy="1057495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8F8C1-3D82-44B2-88E6-2946F096D0A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11812" y="2430030"/>
            <a:ext cx="18360000" cy="110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>
            <a:lvl1pPr algn="ctr">
              <a:buNone/>
              <a:defRPr sz="8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Название </a:t>
            </a:r>
          </a:p>
        </p:txBody>
      </p:sp>
      <p:pic>
        <p:nvPicPr>
          <p:cNvPr id="4" name="Рисунок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4d6f9bfbc4b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128" y="28581063"/>
            <a:ext cx="2302644" cy="627066"/>
          </a:xfrm>
          <a:prstGeom xmlns:a="http://schemas.openxmlformats.org/drawingml/2006/main" prst="rect">
            <a:avLst/>
          </a:prstGeom>
        </p:spPr>
      </p:pic>
      <p:pic>
        <p:nvPicPr>
          <p:cNvPr id="5" name="Рисунок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c383b30d34f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56286" y="28609881"/>
            <a:ext cx="2265908" cy="542369"/>
          </a:xfrm>
          <a:prstGeom xmlns:a="http://schemas.openxmlformats.org/drawingml/2006/main" prst="rect">
            <a:avLst/>
          </a:prstGeom>
        </p:spPr>
      </p:pic>
      <p:sp>
        <p:nvSpPr>
          <p:cNvPr id="62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911521AD-ED2F-4070-A5C9-069811C9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377" y="29467207"/>
            <a:ext cx="3024450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Генеральный партнёр</a:t>
            </a:r>
          </a:p>
        </p:txBody>
      </p:sp>
      <p:sp>
        <p:nvSpPr>
          <p:cNvPr id="63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D0370A2-F3C5-4982-864E-FD69C694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9662" y="29467207"/>
            <a:ext cx="297619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</a:schemeClr>
                </a:solidFill>
                <a:latin typeface="Arial"/>
                <a:ea typeface="Arial"/>
                <a:cs typeface="Arial"/>
              </a:rPr>
              <a:t>Партнёр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e401a5240c4d5d" /><Relationship Type="http://schemas.openxmlformats.org/officeDocument/2006/relationships/slideLayout" Target="/ppt/slideLayouts/slideLayout1.xml" Id="Rd0399522f3fc4ba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399522f3fc4ba0"/>
  </p:sldLayoutIdLst>
  <p:txStyles>
    <p:titleStyle>
      <a:lvl1pPr xmlns:a="http://schemas.openxmlformats.org/drawingml/2006/main" algn="l">
        <a:lnSpc>
          <a:spcPct val="90000"/>
        </a:lnSpc>
        <a:buNone/>
        <a:defRPr sz="10289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534581" indent="-534581" algn="l">
        <a:lnSpc>
          <a:spcPct val="90000"/>
        </a:lnSpc>
        <a:spcBef>
          <a:spcPts val="2339"/>
        </a:spcBef>
        <a:buChar char="•"/>
        <a:defRPr sz="6548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603743" indent="-534581" algn="l">
        <a:lnSpc>
          <a:spcPct val="90000"/>
        </a:lnSpc>
        <a:spcBef>
          <a:spcPts val="1169"/>
        </a:spcBef>
        <a:buChar char="•"/>
        <a:defRPr sz="5612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672906" indent="-534581" algn="l">
        <a:lnSpc>
          <a:spcPct val="90000"/>
        </a:lnSpc>
        <a:spcBef>
          <a:spcPts val="1169"/>
        </a:spcBef>
        <a:buChar char="•"/>
        <a:defRPr sz="4677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742068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811230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880392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6949554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8018717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9087879" indent="-534581" algn="l">
        <a:lnSpc>
          <a:spcPct val="90000"/>
        </a:lnSpc>
        <a:spcBef>
          <a:spcPts val="1169"/>
        </a:spcBef>
        <a:buChar char="•"/>
        <a:defRPr sz="4209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069162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2138324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3207487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4276649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5345811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6414973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7484135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8553298" algn="l">
        <a:buNone/>
        <a:defRPr sz="4209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RI Summ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421071353407d" /><Relationship Type="http://schemas.openxmlformats.org/officeDocument/2006/relationships/hyperlink" Target="https://github.com/Vladislav-Lp/dora-sanity-experiment" TargetMode="External" Id="R2b7152ec2ffb4795" /><Relationship Type="http://schemas.openxmlformats.org/officeDocument/2006/relationships/image" Target="/ppt/media/image5.png" Id="Ra324163ed0584a31" /><Relationship Type="http://schemas.openxmlformats.org/officeDocument/2006/relationships/image" Target="/ppt/media/image6.png" Id="R96c666b76e694a2a" /><Relationship Type="http://schemas.openxmlformats.org/officeDocument/2006/relationships/notesSlide" Target="/ppt/notesSlides/notesSlide1.xml" Id="Rc0f32c01feb440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35F437BD-98F8-7B42-921D-B072EC2BB7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1808" y="2133600"/>
            <a:ext cx="18360009" cy="169545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4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When does DoRA help?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4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Geometry, budgets, and held-seed few-shot adaptation</a:t>
            </a:r>
          </a:p>
        </p:txBody>
      </p:sp>
      <p:sp>
        <p:nvSpPr>
          <p:cNvPr id="9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F964CF7-1659-7147-B572-E13A52A0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170" y="4171950"/>
            <a:ext cx="14099286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02000"/>
              </a:lnSpc>
              <a:buNone/>
              <a:defRPr sz="255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Vladislav Lapin  ·  MIPT FPMI / AI360  ·  AIRI Summer School 2026</a:t>
            </a:r>
          </a:p>
        </p:txBody>
      </p:sp>
      <p:sp>
        <p:nvSpPr>
          <p:cNvPr id="6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22F7037B-A9E7-804C-A32F-F530F150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95" y="7029450"/>
            <a:ext cx="8328851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08A8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8A80"/>
                </a:solidFill>
                <a:latin typeface="Arial"/>
                <a:ea typeface="Arial"/>
                <a:cs typeface="Arial"/>
              </a:rPr>
              <a:t>+1.06 pp MLP  ·  +0.92 pp CNN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8EFEBC4B-1CC1-914C-ACE6-C9FD0FDF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82" y="15969491"/>
            <a:ext cx="8328874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17D5A267-4A77-C249-B8B6-14811E2C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966" y="7848600"/>
            <a:ext cx="8328851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6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15/20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MLP pairs and </a:t>
            </a: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8/10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CNN pairs favored DoRA. </a:t>
            </a: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Holm-adjusted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p=.382213 (MLP) / .158955 (CNN): internal fixed-checkpoint evidence, not external replication.</a:t>
            </a:r>
          </a:p>
        </p:txBody>
      </p:sp>
      <p:sp>
        <p:nvSpPr>
          <p:cNvPr id="11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EDBD61F-81A5-394C-888C-55CD3C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95" y="21878925"/>
            <a:ext cx="8328851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Figure 2. Held-seed estimate → data regime → capacity / optimization diagnostic.</a:t>
            </a:r>
          </a:p>
        </p:txBody>
      </p:sp>
      <p:sp>
        <p:nvSpPr>
          <p:cNvPr id="12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777D2B1B-83DE-4E47-8FA4-305FD5D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284" y="6572250"/>
            <a:ext cx="8328851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separate magnitude from direction?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F2C556B-62C1-8B47-B96E-BAAD9575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12" y="12353589"/>
            <a:ext cx="8328874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E7D44248-8FEB-1D4C-88DA-BAC694E0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7400925"/>
            <a:ext cx="8328851" cy="3752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1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LoRA adds a low-rank update BA, coupling row direction and row norm. DoRA writes W = m ⊙ (W₀ + BA) / ‖W₀ + BA‖₂, so BA controls direction while m controls row scale.</a:t>
            </a:r>
          </a:p>
          <a:p xmlns:a="http://schemas.openxmlformats.org/drawingml/2006/main">
            <a:pPr marL="24" indent="-14" algn="l">
              <a:lnSpc>
                <a:spcPct val="100000"/>
              </a:lnSpc>
              <a:spcAft>
                <a:spcPts val="7"/>
              </a:spcAft>
              <a:buNone/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1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Research question:</a:t>
            </a:r>
            <a:r>
              <a:rPr sz="21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does this extra degree of freedom improve target adaptation after fair selection, budget controls, and negative controls?</a:t>
            </a:r>
          </a:p>
        </p:txBody>
      </p:sp>
      <p:sp>
        <p:nvSpPr>
          <p:cNvPr id="1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EED20C35-7642-9F4E-A3BB-8C1184CC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17106900"/>
            <a:ext cx="8328851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65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Figure 1. LoRA couples scale and direction; DoRA models row scale explicitly.</a:t>
            </a:r>
          </a:p>
        </p:txBody>
      </p:sp>
      <p:sp>
        <p:nvSpPr>
          <p:cNvPr id="16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BDA94D2-6FBE-464B-88DE-3720892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17859375"/>
            <a:ext cx="8328851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Frozen protocol before held-seed evaluation</a:t>
            </a:r>
          </a:p>
        </p:txBody>
      </p:sp>
      <p:sp>
        <p:nvSpPr>
          <p:cNvPr id="17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DB942A2-5D0C-DD4B-8C75-0B6799E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18630900"/>
            <a:ext cx="8328851" cy="3771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6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Pilot only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(validation): learning rate, early stopping, and rank allocation.</a:t>
            </a:r>
          </a:p>
          <a:p xmlns:a="http://schemas.openxmlformats.org/drawingml/2006/main">
            <a:pPr marL="24" indent="-14" algn="l">
              <a:lnSpc>
                <a:spcPct val="106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Held-seed: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20 MLP + 10 CNN adaptation seeds; one fixed checkpoint each; 3 shifts; Holm families m=9 / 6 / 3 (secondary descriptive).</a:t>
            </a:r>
          </a:p>
          <a:p xmlns:a="http://schemas.openxmlformats.org/drawingml/2006/main">
            <a:pPr marL="24" indent="-14" algn="l">
              <a:lnSpc>
                <a:spcPct val="106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Baselines: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frozen, magnitude-only, LoRA,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LoRA+ (fixed B/A=16), matched-budget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LoRA, budgeted DoRA, and full fine-tuning.</a:t>
            </a:r>
          </a:p>
          <a:p xmlns:a="http://schemas.openxmlformats.org/drawingml/2006/main">
            <a:pPr algn="l">
              <a:lnSpc>
                <a:spcPct val="106000"/>
              </a:lnSpc>
              <a:spcAft>
                <a:spcPts val="0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Robustness: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4 nested data regimes; 10 synthetic targets × 5 initializations.</a:t>
            </a:r>
          </a:p>
          <a:p xmlns:a="http://schemas.openxmlformats.org/drawingml/2006/main">
            <a:pPr algn="l">
              <a:lnSpc>
                <a:spcPct val="106000"/>
              </a:lnSpc>
              <a:spcAft>
                <a:spcPts val="0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1,960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saved result rows; 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1,840 training / optimization jobs.</a:t>
            </a:r>
          </a:p>
        </p:txBody>
      </p:sp>
      <p:sp>
        <p:nvSpPr>
          <p:cNvPr id="18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3F137435-49A1-964A-A726-238A5F10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22764750"/>
            <a:ext cx="8328851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Negative controls prevent a victory-only story</a:t>
            </a:r>
          </a:p>
        </p:txBody>
      </p:sp>
      <p:sp>
        <p:nvSpPr>
          <p:cNvPr id="19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2A14AC1E-18FC-CC42-B9F3-E2F1B032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808" y="23574375"/>
            <a:ext cx="8328851" cy="3829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Contrast (MLP):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magnitude-only 96.90% &gt; DoRA 95.18%.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Rotation (MLP):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matched-budget LoRA = DoRA = 93.89%.</a:t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Mixed (MLP):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matching the parameter budget reduces the DoRA gap to +0.53 pp; its CI crosses zero.</a:t>
            </a:r>
          </a:p>
          <a:p xmlns:a="http://schemas.openxmlformats.org/drawingml/2006/main">
            <a:pPr marL="24" indent="-14" algn="l">
              <a:lnSpc>
                <a:spcPct val="98000"/>
              </a:lnSpc>
              <a:spcAft>
                <a:spcPts val="7"/>
              </a:spcAft>
              <a:buNone/>
              <a:defRPr sz="23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24" indent="-14" algn="l">
              <a:lnSpc>
                <a:spcPct val="108000"/>
              </a:lnSpc>
              <a:spcAft>
                <a:spcPts val="7"/>
              </a:spcAft>
              <a:buNone/>
              <a:defRPr sz="20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Scope:</a:t>
            </a:r>
            <a:r>
              <a:rPr sz="20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Digits, one fixed pretrained base per architecture, and one target split already seen during exploratory work. This is a controlled mechanism study, not an LLM-scale benchmark.</a:t>
            </a:r>
          </a:p>
        </p:txBody>
      </p:sp>
      <p:sp>
        <p:nvSpPr>
          <p:cNvPr id="24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00E0579D-4745-7A49-9210-5699A830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395" y="23241000"/>
            <a:ext cx="8328851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32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the controls still support</a:t>
            </a:r>
          </a:p>
        </p:txBody>
      </p:sp>
      <p:sp>
        <p:nvSpPr>
          <p:cNvPr id="25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5D89536-B5CF-7D41-BE7A-E932D764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395" y="23955375"/>
            <a:ext cx="8328851" cy="3495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2000"/>
              </a:lnSpc>
              <a:spcAft>
                <a:spcPts val="6"/>
              </a:spcAft>
              <a:buNone/>
              <a:defRPr sz="21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Mixed shift: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 DoRA reaches 75.22% (MLP) and 80.53% (CNN), near full FT (75.17%, 80.67%) with ~12-15% of its trainable parameters.</a:t>
            </a:r>
          </a:p>
          <a:p xmlns:a="http://schemas.openxmlformats.org/drawingml/2006/main">
            <a:pPr marL="24" indent="-14" algn="l">
              <a:lnSpc>
                <a:spcPct val="102000"/>
              </a:lnSpc>
              <a:spcAft>
                <a:spcPts val="6"/>
              </a:spcAft>
              <a:buNone/>
              <a:defRPr sz="21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Fairer baselines: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 matched-budget LoRA leaves +0.53 pp; DoRA-LoRA+ Holm p=.050935 (&gt; .05); budgeted DoRA +.82 pp (secondary Holm p=.347089).</a:t>
            </a:r>
          </a:p>
          <a:p xmlns:a="http://schemas.openxmlformats.org/drawingml/2006/main">
            <a:pPr marL="24" indent="-14" algn="l">
              <a:lnSpc>
                <a:spcPct val="102000"/>
              </a:lnSpc>
              <a:spcAft>
                <a:spcPts val="6"/>
              </a:spcAft>
              <a:buNone/>
              <a:defRPr sz="21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Synthetic diagnostic (gamma=.8):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 DoRA is representationally exact; 44/50 runs reach error &lt;10^-3. LoRA oracle mean error is .289.</a:t>
            </a:r>
          </a:p>
          <a:p xmlns:a="http://schemas.openxmlformats.org/drawingml/2006/main">
            <a:pPr marL="24" indent="-14" algn="l">
              <a:lnSpc>
                <a:spcPct val="102000"/>
              </a:lnSpc>
              <a:spcAft>
                <a:spcPts val="0"/>
              </a:spcAft>
              <a:buNone/>
              <a:defRPr sz="210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Next test:</a:t>
            </a:r>
            <a:r>
              <a:rPr sz="2100">
                <a:solidFill>
                  <a:srgbClr val="101820"/>
                </a:solidFill>
                <a:latin typeface="Arial"/>
                <a:ea typeface="Arial"/>
                <a:cs typeface="Arial"/>
              </a:rPr>
              <a:t> heterogeneous row-norm drift, retaining LoRA and magnitude-only controls.</a:t>
            </a:r>
          </a:p>
        </p:txBody>
      </p:sp>
      <p:sp>
        <p:nvSpPr>
          <p:cNvPr id="27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8E8B3B8D-29F0-0743-BF4F-96A6C906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395" y="6572250"/>
            <a:ext cx="8328851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1725" b="1">
                <a:solidFill>
                  <a:srgbClr val="008A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A80"/>
                </a:solidFill>
                <a:latin typeface="Arial"/>
                <a:ea typeface="Arial"/>
                <a:cs typeface="Arial"/>
              </a:rPr>
              <a:t>HELD-SEED MIXED-SHIFT ESTIMATES</a:t>
            </a:r>
          </a:p>
        </p:txBody>
      </p:sp>
      <p:sp>
        <p:nvSpPr>
          <p:cNvPr id="28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07872322-45B8-0849-889C-1F819F04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966" y="22288500"/>
            <a:ext cx="8328851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4" indent="-14" algn="l">
              <a:lnSpc>
                <a:spcPct val="105000"/>
              </a:lnSpc>
              <a:spcAft>
                <a:spcPts val="7"/>
              </a:spcAft>
              <a:buNone/>
              <a:defRPr sz="165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Target-test evaluation followed the frozen validation-selected protocol. Internal confirmation on fixed checkpoints; exact CIs, raw/adjusted p-values, and rank budgets are in the repository.</a:t>
            </a:r>
          </a:p>
        </p:txBody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EB946C9F-BF3E-4996-800C-CB832F24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1045" y="6653687"/>
            <a:ext cx="0" cy="2068034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8CEC3D49-17C8-C442-8612-0666054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29460063"/>
            <a:ext cx="16893921" cy="310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Code, raw results, notebook, and report → private review link; access available on request.</a:t>
            </a:r>
          </a:p>
        </p:txBody>
      </p:sp>
      <p:sp>
        <p:nvSpPr>
          <p:cNvPr id="22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FD51292E-7EEB-3D48-87CF-183BB16B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29021151"/>
            <a:ext cx="16893921" cy="310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[3] Hayou et al. LoRA+. ICML 2024.     Statistical protocol and raw CSV: GitHub.</a:t>
            </a:r>
          </a:p>
        </p:txBody>
      </p:sp>
      <p:sp>
        <p:nvSpPr>
          <p:cNvPr id="23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2D635EC2-8653-2A4C-8EB8-43B66B8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28545663"/>
            <a:ext cx="16893921" cy="3108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[1] Hu et al. LoRA. ICLR 2022.     [2] Liu et al. DoRA. ICML 2024.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19FED38-DB74-2F48-BCF3-EAD7C371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0906" y="28225476"/>
            <a:ext cx="1591419" cy="1591419"/>
          </a:xfrm>
          <a:prstGeom xmlns:a="http://schemas.openxmlformats.org/drawingml/2006/main" prst="roundRect">
            <a:avLst>
              <a:gd name="adj" fmla="val 11576"/>
            </a:avLst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Скругленный прямоугольник 29">
            <a:extLst xmlns:a="http://schemas.openxmlformats.org/drawingml/2006/main">
              <a:ext uri="{FF2B5EF4-FFF2-40B4-BE49-F238E27FC236}">
                <a16:creationId xmlns:a16="http://schemas.microsoft.com/office/drawing/2014/main" id="{9B16BF6B-030C-4346-A6FA-EAA603EF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7425" y="28381995"/>
            <a:ext cx="1278380" cy="1278380"/>
          </a:xfrm>
          <a:prstGeom xmlns:a="http://schemas.openxmlformats.org/drawingml/2006/main" prst="roundRect">
            <a:avLst>
              <a:gd name="adj" fmla="val 11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Заголовок 4">
            <a:extLst xmlns:a="http://schemas.openxmlformats.org/drawingml/2006/main">
              <a:ext uri="{FF2B5EF4-FFF2-40B4-BE49-F238E27FC236}">
                <a16:creationId xmlns:a16="http://schemas.microsoft.com/office/drawing/2014/main" id="{C4891C96-3C4F-E349-8BB1-537E0F81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6050" y="29870400"/>
            <a:ext cx="230505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9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92000"/>
              </a:lnSpc>
              <a:buNone/>
              <a:defRPr sz="1275" b="1">
                <a:solidFill>
                  <a:srgbClr val="008A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A80"/>
                </a:solidFill>
                <a:latin typeface="Arial"/>
                <a:ea typeface="Arial"/>
                <a:cs typeface="Arial"/>
                <a:hlinkClick xmlns:r="http://schemas.openxmlformats.org/officeDocument/2006/relationships" r:id="R2b7152ec2ffb4795"/>
              </a:rPr>
              <a:t>PRIVATE REVIEW LINK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1DF444-88C1-40C3-B730-22B5E517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13020294"/>
            <a:ext cx="1000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5A91A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A91AA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3610E1-7DD1-4056-BE36-0BC0A8D2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808" y="15001494"/>
            <a:ext cx="1000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DoRA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724CAF-B690-4BAC-B83A-E2EE51DC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2810744"/>
            <a:ext cx="10668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9050">
            <a:solidFill>
              <a:srgbClr val="A7AFB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27AE4C-6C09-466E-866E-3465FD30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358" y="12810744"/>
            <a:ext cx="12573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19050">
            <a:solidFill>
              <a:srgbClr val="C99A2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 BA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CA0E78-8D0E-440E-A31D-AAF2F334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958" y="12810744"/>
            <a:ext cx="18669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solidFill>
              <a:srgbClr val="5A91AA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Ŵ = W₀ + BA</a:t>
            </a:r>
          </a:p>
        </p:txBody>
      </p:sp>
      <p:cxnSp>
        <p:nvCxnSpPr>
          <p:cNvPr id="33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3721608" y="13296519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91AA"/>
            </a:solidFill>
            <a:prstDash val="solid"/>
            <a:tailEnd type="triangle" w="med" len="med"/>
          </a:ln>
        </p:spPr>
      </p:cxnSp>
      <p:cxnSp>
        <p:nvCxnSpPr>
          <p:cNvPr id="334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6026658" y="13296519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A91AA"/>
            </a:solidFill>
            <a:prstDash val="solid"/>
            <a:tailEnd type="triangle" w="med" len="me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FA5031-BE2B-48B4-88B2-F2399362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808" y="14753844"/>
            <a:ext cx="10668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19050">
            <a:solidFill>
              <a:srgbClr val="A7AFB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C80243-8BDD-424F-87DA-C61CFC0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858" y="14753844"/>
            <a:ext cx="17526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19050">
            <a:solidFill>
              <a:srgbClr val="C99A2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 = W₀ + BA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D2BA60-3750-49A8-B7DA-24A22DEA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558" y="14753844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19050">
            <a:solidFill>
              <a:srgbClr val="23BFB5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 / ‖V‖₂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FC1D0D-B46B-4391-80E8-1CE490A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408" y="14753844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AF8"/>
          </a:solidFill>
          <a:ln xmlns:a="http://schemas.openxmlformats.org/drawingml/2006/main" w="19050">
            <a:solidFill>
              <a:srgbClr val="087F78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>
                <a:solidFill>
                  <a:srgbClr val="087F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78"/>
                </a:solidFill>
                <a:latin typeface="Arial"/>
                <a:ea typeface="Arial"/>
                <a:cs typeface="Arial"/>
              </a:rPr>
              <a:t>m ⊙ V/‖V‖₂</a:t>
            </a:r>
          </a:p>
        </p:txBody>
      </p:sp>
      <p:cxnSp>
        <p:nvCxnSpPr>
          <p:cNvPr id="339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721608" y="15239619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8"/>
            </a:solidFill>
            <a:prstDash val="solid"/>
            <a:tailEnd type="triangle" w="med" len="med"/>
          </a:ln>
        </p:spPr>
      </p:cxnSp>
      <p:cxnSp>
        <p:nvCxnSpPr>
          <p:cNvPr id="340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5950458" y="15239619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8"/>
            </a:solidFill>
            <a:prstDash val="solid"/>
            <a:tailEnd type="triangle" w="med" len="med"/>
          </a:ln>
        </p:spPr>
      </p:cxnSp>
      <p:cxnSp>
        <p:nvCxnSpPr>
          <p:cNvPr id="341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798308" y="15239619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78"/>
            </a:solidFill>
            <a:prstDash val="solid"/>
            <a:tailEnd type="triangle" w="med" len="me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754FDEC-97A6-4839-844F-C8A084D4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108" y="15792069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direction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AB3E0B-210A-4645-963E-5C0CE30A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958" y="15792069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350" b="1">
                <a:solidFill>
                  <a:srgbClr val="008A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A80"/>
                </a:solidFill>
                <a:latin typeface="Arial"/>
                <a:ea typeface="Arial"/>
                <a:cs typeface="Arial"/>
              </a:rPr>
              <a:t>independent row scale 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0515CC-C181-48B1-BD60-FBC6F2B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758" y="16296894"/>
            <a:ext cx="691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0">
                <a:solidFill>
                  <a:srgbClr val="5F68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0"/>
                </a:solidFill>
                <a:latin typeface="Arial"/>
                <a:ea typeface="Arial"/>
                <a:cs typeface="Arial"/>
              </a:rPr>
              <a:t>Same rank r; DoRA adds d_out trainable magnitude parameters.</a:t>
            </a:r>
          </a:p>
        </p:txBody>
      </p:sp>
      <p:pic>
        <p:nvPicPr>
          <p:cNvPr id="3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4163ed0584a31"/>
          <a:stretch xmlns:a="http://schemas.openxmlformats.org/drawingml/2006/main"/>
        </p:blipFill>
        <p:spPr>
          <a:xfrm xmlns:a="http://schemas.openxmlformats.org/drawingml/2006/main" flipH="0" flipV="0">
            <a:off x="11540395" y="9240089"/>
            <a:ext cx="8328851" cy="12552272"/>
          </a:xfrm>
          <a:prstGeom xmlns:a="http://schemas.openxmlformats.org/drawingml/2006/main" prst="rect">
            <a:avLst/>
          </a:prstGeom>
        </p:spPr>
      </p:pic>
      <p:pic>
        <p:nvPicPr>
          <p:cNvPr id="3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666b76e694a2a"/>
          <a:stretch xmlns:a="http://schemas.openxmlformats.org/drawingml/2006/main"/>
        </p:blipFill>
        <p:spPr>
          <a:xfrm xmlns:a="http://schemas.openxmlformats.org/drawingml/2006/main">
            <a:off x="18437447" y="28382023"/>
            <a:ext cx="1278350" cy="1278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41552"/>
      </p:ext>
    </p:extLst>
  </p:cSld>
</p:sld>
</file>

<file path=ppt/theme/theme1.xml><?xml version="1.0" encoding="utf-8"?>
<a:theme xmlns:a="http://schemas.openxmlformats.org/drawingml/2006/main" name="Тема Office">
  <a:themeElements>
    <a:clrScheme name="AIRI Summer">
      <a:dk1>
        <a:srgbClr val="000000"/>
      </a:dk1>
      <a:lt1>
        <a:srgbClr val="FFFFFF"/>
      </a:lt1>
      <a:dk2>
        <a:srgbClr val="494949"/>
      </a:dk2>
      <a:lt2>
        <a:srgbClr val="F2EEE9"/>
      </a:lt2>
      <a:accent1>
        <a:srgbClr val="1D51C8"/>
      </a:accent1>
      <a:accent2>
        <a:srgbClr val="988CFF"/>
      </a:accent2>
      <a:accent3>
        <a:srgbClr val="A5A5A5"/>
      </a:accent3>
      <a:accent4>
        <a:srgbClr val="FFD027"/>
      </a:accent4>
      <a:accent5>
        <a:srgbClr val="50C0FF"/>
      </a:accent5>
      <a:accent6>
        <a:srgbClr val="3ED0B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RI Summ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2026-07-17T19:53:48.9890000Z</dcterms:created>
  <dcterms:modified xsi:type="dcterms:W3CDTF">2026-07-17T19:53:48.9890000Z</dcterms:modified>
</coreProperties>
</file>
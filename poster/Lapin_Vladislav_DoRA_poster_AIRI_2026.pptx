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87597cd0f45ad" /><Relationship Type="http://schemas.openxmlformats.org/officeDocument/2006/relationships/extended-properties" Target="/docProps/app.xml" Id="R91c32bbd1cc34a12" /><Relationship Type="http://schemas.openxmlformats.org/officeDocument/2006/relationships/officeDocument" Target="/ppt/presentation.xml" Id="R3c48022467fe41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0c79385a54c7d"/>
  </p:sldMasterIdLst>
  <p:notesMasterIdLst>
    <p:notesMasterId xmlns:r="http://schemas.openxmlformats.org/officeDocument/2006/relationships" r:id="R859c1b6891be4f32"/>
  </p:notesMasterIdLst>
  <p:sldIdLst>
    <p:sldId xmlns:r="http://schemas.openxmlformats.org/officeDocument/2006/relationships" id="256" r:id="Rde8f37a59f234c3e"/>
  </p:sldIdLst>
  <p:sldSz cx="21383625" cy="3027521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81a34cdbb4f7d" /><Relationship Type="http://schemas.openxmlformats.org/officeDocument/2006/relationships/slideMaster" Target="/ppt/slideMasters/slideMaster1.xml" Id="Rc7a0c79385a54c7d" /><Relationship Type="http://schemas.openxmlformats.org/officeDocument/2006/relationships/notesMaster" Target="/ppt/notesMasters/notesMaster1.xml" Id="R859c1b6891be4f32" /><Relationship Type="http://schemas.openxmlformats.org/officeDocument/2006/relationships/presProps" Target="/ppt/presProps.xml" Id="R5470fb249f884f08" /><Relationship Type="http://schemas.openxmlformats.org/officeDocument/2006/relationships/viewProps" Target="/ppt/viewProps.xml" Id="R461cbd69eb2247d8" /><Relationship Type="http://schemas.openxmlformats.org/officeDocument/2006/relationships/tableStyles" Target="/ppt/tableStyles.xml" Id="R01c0ad3a2e0a4377" /><Relationship Type="http://schemas.openxmlformats.org/officeDocument/2006/relationships/slide" Target="/ppt/slides/slide1.xml" Id="Rde8f37a59f23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0cddba74f4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6769e9286744eb" /><Relationship Type="http://schemas.openxmlformats.org/officeDocument/2006/relationships/notesMaster" Target="/ppt/notesMasters/notesMaster1.xml" Id="Rfde2d843334549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37b19c5cc4623" /><Relationship Type="http://schemas.openxmlformats.org/officeDocument/2006/relationships/image" Target="/ppt/media/image.png" Id="R36b8dd72081c48b7" /><Relationship Type="http://schemas.openxmlformats.org/officeDocument/2006/relationships/image" Target="/ppt/media/image2.png" Id="R9b40706e11674aa9" /><Relationship Type="http://schemas.openxmlformats.org/officeDocument/2006/relationships/image" Target="/ppt/media/image3.png" Id="Rf91f2a626a0d43c9" /><Relationship Type="http://schemas.openxmlformats.org/officeDocument/2006/relationships/image" Target="/ppt/media/image4.png" Id="R5f161d9fe7d74fdb" /></Relationships>
</file>

<file path=ppt/slideLayouts/slideLayout1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8dd72081c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51886" y="1138545"/>
            <a:ext cx="3919926" cy="340496"/>
          </a:xfrm>
          <a:prstGeom xmlns:a="http://schemas.openxmlformats.org/drawingml/2006/main" prst="rect">
            <a:avLst/>
          </a:prstGeom>
        </p:spPr>
      </p:pic>
      <p:pic>
        <p:nvPicPr>
          <p:cNvPr id="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0706e1167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5478" y="555676"/>
            <a:ext cx="5917195" cy="10574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F7CD33-ACB9-439A-80B8-4B994ED84C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11812" y="2430030"/>
            <a:ext cx="18360000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lvl1pPr algn="ctr">
              <a:buNone/>
              <a:defRPr sz="8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Название </a:t>
            </a:r>
          </a:p>
        </p:txBody>
      </p:sp>
      <p:pic>
        <p:nvPicPr>
          <p:cNvPr id="4" name="Рисунок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f2a626a0d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128" y="28581063"/>
            <a:ext cx="2302644" cy="627066"/>
          </a:xfrm>
          <a:prstGeom xmlns:a="http://schemas.openxmlformats.org/drawingml/2006/main" prst="rect">
            <a:avLst/>
          </a:prstGeom>
        </p:spPr>
      </p:pic>
      <p:pic>
        <p:nvPicPr>
          <p:cNvPr id="5" name="Рисунок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61d9fe7d7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56286" y="28609881"/>
            <a:ext cx="2265908" cy="542369"/>
          </a:xfrm>
          <a:prstGeom xmlns:a="http://schemas.openxmlformats.org/drawingml/2006/main" prst="rect">
            <a:avLst/>
          </a:prstGeom>
        </p:spPr>
      </p:pic>
      <p:sp>
        <p:nvSpPr>
          <p:cNvPr id="6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911521AD-ED2F-4070-A5C9-069811C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377" y="29467207"/>
            <a:ext cx="3024450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Генеральный партнёр</a:t>
            </a:r>
          </a:p>
        </p:txBody>
      </p:sp>
      <p:sp>
        <p:nvSpPr>
          <p:cNvPr id="6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0370A2-F3C5-4982-864E-FD69C69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9662" y="29467207"/>
            <a:ext cx="297619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Партнёр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b19653dcf45ea" /><Relationship Type="http://schemas.openxmlformats.org/officeDocument/2006/relationships/slideLayout" Target="/ppt/slideLayouts/slideLayout1.xml" Id="R78e239a4f675418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e239a4f6754188"/>
  </p:sldLayoutIdLst>
  <p:txStyles>
    <p:titleStyle>
      <a:lvl1pPr xmlns:a="http://schemas.openxmlformats.org/drawingml/2006/main" algn="l">
        <a:lnSpc>
          <a:spcPct val="90000"/>
        </a:lnSpc>
        <a:buNone/>
        <a:defRPr sz="10289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534581" indent="-534581" algn="l">
        <a:lnSpc>
          <a:spcPct val="90000"/>
        </a:lnSpc>
        <a:spcBef>
          <a:spcPts val="2339"/>
        </a:spcBef>
        <a:buChar char="•"/>
        <a:defRPr sz="6548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03743" indent="-534581" algn="l">
        <a:lnSpc>
          <a:spcPct val="90000"/>
        </a:lnSpc>
        <a:spcBef>
          <a:spcPts val="1169"/>
        </a:spcBef>
        <a:buChar char="•"/>
        <a:defRPr sz="5612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672906" indent="-534581" algn="l">
        <a:lnSpc>
          <a:spcPct val="90000"/>
        </a:lnSpc>
        <a:spcBef>
          <a:spcPts val="1169"/>
        </a:spcBef>
        <a:buChar char="•"/>
        <a:defRPr sz="4677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742068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811230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880392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949554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8018717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9087879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69162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38324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207487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276649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345811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414973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7484135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8553298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502710d704155" /><Relationship Type="http://schemas.openxmlformats.org/officeDocument/2006/relationships/chart" Target="/ppt/slides/charts/chart1.xml" Id="Re757a2da31514177" /><Relationship Type="http://schemas.openxmlformats.org/officeDocument/2006/relationships/image" Target="/ppt/media/image5.png" Id="R9aa07f6201a348bf" /><Relationship Type="http://schemas.openxmlformats.org/officeDocument/2006/relationships/notesSlide" Target="/ppt/notesSlides/notesSlide1.xml" Id="R0a4cab96aa8d495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000000"/>
                </a:solidFill>
              </a:rPr>
              <a:t>−log₁₀(Test MSE): выше — лучше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950" b="1">
              <a:solidFill>
                <a:srgbClr val="000000"/>
              </a:solidFill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−log₁₀(MSE)</c:v>
          </c:tx>
          <c:spPr>
            <a:solidFill xmlns:a="http://schemas.openxmlformats.org/drawingml/2006/main">
              <a:srgbClr val="3ED0B9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A5A5A5"/>
              </a:solidFill>
              <a:ln xmlns:a="http://schemas.openxmlformats.org/drawingml/2006/main" w="9525">
                <a:solidFill>
                  <a:srgbClr val="A5A5A5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1D51C8"/>
              </a:solidFill>
              <a:ln xmlns:a="http://schemas.openxmlformats.org/drawingml/2006/main" w="9525">
                <a:solidFill>
                  <a:srgbClr val="1D51C8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78F80"/>
              </a:solidFill>
              <a:ln xmlns:a="http://schemas.openxmlformats.org/drawingml/2006/main" w="9525">
                <a:solidFill>
                  <a:srgbClr val="178F80"/>
                </a:solidFill>
                <a:prstDash val="solid"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000000"/>
                        </a:solidFill>
                      </a:rPr>
                      <a:t>1.5292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00000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000000"/>
                        </a:solidFill>
                      </a:rPr>
                      <a:t>0.1545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00000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000000"/>
                        </a:solidFill>
                      </a:rPr>
                      <a:t>0.000134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00000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Frozen W₀</c:v>
              </c:pt>
              <c:pt idx="1">
                <c:v>LoRA r=4</c:v>
              </c:pt>
              <c:pt idx="2">
                <c:v>DoRA r=4</c:v>
              </c:pt>
            </c:strLit>
          </c:cat>
          <c:val>
            <c:numLit>
              <c:formatCode>0.0</c:formatCode>
              <c:ptCount val="3"/>
              <c:pt idx="0">
                <c:v>-0.18446428934699047</c:v>
              </c:pt>
              <c:pt idx="1">
                <c:v>0.8110715162391466</c:v>
              </c:pt>
              <c:pt idx="2">
                <c:v>3.8728952016351923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5A5A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6565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.5"/>
          <c:min val="-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5A5A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5656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5E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5D5D5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5F437BD-98F8-7B42-921D-B072EC2BB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812" y="2430030"/>
            <a:ext cx="18360000" cy="1246495"/>
          </a:xfr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DoRA: масштаб и направление весов</a:t>
            </a:r>
          </a:p>
        </p:txBody>
      </p:sp>
      <p:sp>
        <p:nvSpPr>
          <p:cNvPr id="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F964CF7-1659-7147-B572-E13A52A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660" y="4258828"/>
            <a:ext cx="12194304" cy="4431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defRPr sz="3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Владислав Лапин · МФТИ ФПМИ / AI360</a:t>
            </a:r>
          </a:p>
        </p:txBody>
      </p:sp>
      <p:sp>
        <p:nvSpPr>
          <p:cNvPr id="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2F7037B-A9E7-804C-A32F-F530F15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82" y="10942257"/>
            <a:ext cx="8328874" cy="1477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результат</a:t>
            </a:r>
          </a:p>
        </p:txBody>
      </p:sp>
      <p:sp>
        <p:nvSpPr>
          <p:cNvPr id="10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17D5A267-4A77-C249-B8B6-14811E2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38" y="12833810"/>
            <a:ext cx="8328874" cy="27513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DoRA: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0.000134 ± 0.000010 MSE; 136 параметров.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0.1545 ± 0.0389 MSE; 128 параметров.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Итог: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средний Test MSE ниже примерно в 1150×.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Бюджет: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136 = 128 LoRA-параметров + 8 magnitude (+6.25%).</a:t>
            </a:r>
          </a:p>
          <a:p xmlns:a="http://schemas.openxmlformats.org/drawingml/2006/main">
            <a:pPr marL="30" indent="-18" algn="l">
              <a:spcAft>
                <a:spcPts val="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0.0092 против 0.2745.</a:t>
            </a:r>
          </a:p>
        </p:txBody>
      </p:sp>
      <p:sp>
        <p:nvSpPr>
          <p:cNvPr id="11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EDBD61F-81A5-394C-888C-55CD3C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82" y="20773642"/>
            <a:ext cx="8328874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Рис. 2. Test MSE; подписи показывают исходные значения.</a:t>
            </a:r>
          </a:p>
        </p:txBody>
      </p:sp>
      <p:sp>
        <p:nvSpPr>
          <p:cNvPr id="1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777D2B1B-83DE-4E47-8FA4-305FD5D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23" y="6653687"/>
            <a:ext cx="8328874" cy="738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Мотивация</a:t>
            </a:r>
          </a:p>
        </p:txBody>
      </p:sp>
      <p:sp>
        <p:nvSpPr>
          <p:cNvPr id="1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7D44248-8FEB-1D4C-88DA-BAC694E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7" y="7624916"/>
            <a:ext cx="8328874" cy="2980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fine-tuning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обновляет все веса и даёт высокое качество, но дорог для LLM/VLM.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обучает только low-rank поправку BA и не разделяет масштаб и направление явно.</a:t>
            </a:r>
          </a:p>
          <a:p xmlns:a="http://schemas.openxmlformats.org/drawingml/2006/main">
            <a:pPr marL="30" indent="-18" algn="l">
              <a:spcAft>
                <a:spcPts val="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Вопрос: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поможет ли отдельный параметр масштаба снизить ошибку при том же rank?</a:t>
            </a:r>
          </a:p>
        </p:txBody>
      </p:sp>
      <p:sp>
        <p:nvSpPr>
          <p:cNvPr id="1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ED20C35-7642-9F4E-A3BB-8C1184C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7" y="17166206"/>
            <a:ext cx="8328874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Рис. 1. DoRA отделяет норму весов от направления.</a:t>
            </a:r>
          </a:p>
        </p:txBody>
      </p:sp>
      <p:sp>
        <p:nvSpPr>
          <p:cNvPr id="1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BDA94D2-6FBE-464B-88DE-3720892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7" y="18111914"/>
            <a:ext cx="8328874" cy="738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Контрольный эксперимент</a:t>
            </a:r>
          </a:p>
        </p:txBody>
      </p:sp>
      <p:sp>
        <p:nvSpPr>
          <p:cNvPr id="1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B942A2-5D0C-DD4B-8C75-0B6799E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7" y="19092852"/>
            <a:ext cx="8328874" cy="19928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Объекты: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W₀ и W★; цель меняет rank-4 направление и нормы строк в 0.45–1.95 раза.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Сравнение: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frozen baseline, LoRA r=4 и DoRA r=4.</a:t>
            </a:r>
          </a:p>
          <a:p xmlns:a="http://schemas.openxmlformats.org/drawingml/2006/main">
            <a:pPr marL="30" indent="-18" algn="l">
              <a:spcAft>
                <a:spcPts val="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Оценка: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n=3 seed; test MSE и MAE; среднее ± стандартное отклонение.</a:t>
            </a:r>
          </a:p>
        </p:txBody>
      </p:sp>
      <p:sp>
        <p:nvSpPr>
          <p:cNvPr id="1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F137435-49A1-964A-A726-238A5F1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2" y="22938553"/>
            <a:ext cx="8328874" cy="738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Протокол</a:t>
            </a:r>
          </a:p>
        </p:txBody>
      </p:sp>
      <p:sp>
        <p:nvSpPr>
          <p:cNvPr id="1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A14AC1E-18FC-CC42-B9F3-E2F1B03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7" y="23952775"/>
            <a:ext cx="8328874" cy="21315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algn="l">
              <a:spcAft>
                <a:spcPts val="650"/>
              </a:spcAft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W₀: 8×24; train/test: 4096/1024; шум σ=0.01.</a:t>
            </a:r>
          </a:p>
          <a:p xmlns:a="http://schemas.openxmlformats.org/drawingml/2006/main">
            <a:pPr marL="0" algn="l">
              <a:spcAft>
                <a:spcPts val="650"/>
              </a:spcAft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Adam, lr=0.05; 1200 шагов; batch size 128.</a:t>
            </a:r>
          </a:p>
          <a:p xmlns:a="http://schemas.openxmlformats.org/drawingml/2006/main">
            <a:pPr marL="0" algn="l">
              <a:spcAft>
                <a:spcPts val="650"/>
              </a:spcAft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Seeds: 123, 124, 125; одинаковые данные и rank 4.</a:t>
            </a:r>
          </a:p>
          <a:p xmlns:a="http://schemas.openxmlformats.org/drawingml/2006/main">
            <a:pPr marL="0" algn="l">
              <a:spcAft>
                <a:spcPts val="650"/>
              </a:spcAft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Считаем mean ± std по Test MSE и MAE.</a:t>
            </a:r>
          </a:p>
        </p:txBody>
      </p:sp>
      <p:sp>
        <p:nvSpPr>
          <p:cNvPr id="2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0E0579D-4745-7A49-9210-5699A83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427" y="21671044"/>
            <a:ext cx="8328874" cy="738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Выводы и ограничения</a:t>
            </a:r>
          </a:p>
        </p:txBody>
      </p:sp>
      <p:sp>
        <p:nvSpPr>
          <p:cNvPr id="2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5D89536-B5CF-7D41-BE7A-E932D76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82" y="22767227"/>
            <a:ext cx="8328874" cy="46029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Поддержано: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отдельный m полезен в специально построенной задаче изменения норм и направления.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Цена: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+6.25% параметров; обучение 1.28 с против 0.87 с в сохранённом запуске.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Ограничение: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это синтетическая проверка механизма, а не воспроизведение LLaMA/LLaVA.</a:t>
            </a:r>
          </a:p>
          <a:p xmlns:a="http://schemas.openxmlformats.org/drawingml/2006/main">
            <a:pPr marL="30" indent="-18" algn="l">
              <a:spcAft>
                <a:spcPts val="70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Следующий шаг: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DistilBERT/SST-2, rank 4/8; accuracy, F1, параметры и время обучения.</a:t>
            </a:r>
          </a:p>
          <a:p xmlns:a="http://schemas.openxmlformats.org/drawingml/2006/main">
            <a:pPr marL="30" indent="-18" algn="l">
              <a:spcAft>
                <a:spcPts val="0"/>
              </a:spcAft>
              <a:buChar char="•"/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Код и данные: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доступны по QR-коду.</a:t>
            </a:r>
          </a:p>
        </p:txBody>
      </p:sp>
      <p:sp>
        <p:nvSpPr>
          <p:cNvPr id="2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E8B3B8D-29F0-0743-BF4F-96A6C90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427" y="6653687"/>
            <a:ext cx="8328874" cy="738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Механизм DoRA</a:t>
            </a:r>
          </a:p>
        </p:txBody>
      </p:sp>
      <p:sp>
        <p:nvSpPr>
          <p:cNvPr id="2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7872322-45B8-0849-889C-1F819F0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38" y="7624916"/>
            <a:ext cx="8328874" cy="17282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LoRA: 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Ŵ = W₀ + (α/r)BA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DoRA: 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 = W₀ + (α/r)BA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  Ŵ = m ⊙ V / ‖V‖_c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меняет направление,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норму. После слияния нет дополнительной задержки на инференсе.</a:t>
            </a:r>
          </a:p>
        </p:txBody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7ABE5A59-B6C9-4F8C-9FE8-83144D7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045" y="6653687"/>
            <a:ext cx="0" cy="2068034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CEC3D49-17C8-C442-8612-0666054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1" y="29460098"/>
            <a:ext cx="16893945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0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[3] Code &amp; results: github.com/lapinvlad1mok/dora-sanity-experiment</a:t>
            </a:r>
          </a:p>
        </p:txBody>
      </p:sp>
      <p:sp>
        <p:nvSpPr>
          <p:cNvPr id="2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51292E-7EEB-3D48-87CF-183BB16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1" y="29021186"/>
            <a:ext cx="16893945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0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[2] Liu et al. DoRA. ICML 2024 Oral. arXiv:2402.09353</a:t>
            </a:r>
          </a:p>
        </p:txBody>
      </p:sp>
      <p:sp>
        <p:nvSpPr>
          <p:cNvPr id="2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D635EC2-8653-2A4C-8EB8-43B66B8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1" y="28545698"/>
            <a:ext cx="16893945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0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[1] Hu et al. LoRA. ICLR 2022. arXiv:2106.09685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19FED38-DB74-2F48-BCF3-EAD7C37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906" y="28225476"/>
            <a:ext cx="1591419" cy="1591419"/>
          </a:xfrm>
          <a:prstGeom xmlns:a="http://schemas.openxmlformats.org/drawingml/2006/main" prst="roundRect">
            <a:avLst>
              <a:gd name="adj" fmla="val 11576"/>
            </a:avLst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C4891C96-3C4F-E349-8BB1-537E0F8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952" y="29889450"/>
            <a:ext cx="1591437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38" name="mechanism-arrow">
            <a:extLst xmlns:a="http://schemas.openxmlformats.org/drawingml/2006/main">
              <a:ext uri="{FF2B5EF4-FFF2-40B4-BE49-F238E27FC236}">
                <a16:creationId xmlns:a16="http://schemas.microsoft.com/office/drawing/2014/main" id="{ACCF5DFE-6E76-4438-83E3-CEF52B6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558" y="13134594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9525">
            <a:solidFill>
              <a:srgbClr val="A5A5A5"/>
            </a:solidFill>
            <a:prstDash val="solid"/>
          </a:ln>
        </p:spPr>
      </p:sp>
      <p:sp>
        <p:nvSpPr>
          <p:cNvPr id="39" name="mechanism-arrow">
            <a:extLst xmlns:a="http://schemas.openxmlformats.org/drawingml/2006/main">
              <a:ext uri="{FF2B5EF4-FFF2-40B4-BE49-F238E27FC236}">
                <a16:creationId xmlns:a16="http://schemas.microsoft.com/office/drawing/2014/main" id="{B71F1FA4-DEB5-416A-8764-6FA136D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808" y="13134594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9525">
            <a:solidFill>
              <a:srgbClr val="A5A5A5"/>
            </a:solidFill>
            <a:prstDash val="solid"/>
          </a:ln>
        </p:spPr>
      </p:sp>
      <p:sp>
        <p:nvSpPr>
          <p:cNvPr id="40" name="mechanism-arrow">
            <a:extLst xmlns:a="http://schemas.openxmlformats.org/drawingml/2006/main">
              <a:ext uri="{FF2B5EF4-FFF2-40B4-BE49-F238E27FC236}">
                <a16:creationId xmlns:a16="http://schemas.microsoft.com/office/drawing/2014/main" id="{94A7C549-0095-4292-89F2-4572F8E8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058" y="15039594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0B9"/>
          </a:solidFill>
          <a:ln xmlns:a="http://schemas.openxmlformats.org/drawingml/2006/main" w="9525">
            <a:solidFill>
              <a:srgbClr val="3ED0B9"/>
            </a:solidFill>
            <a:prstDash val="solid"/>
          </a:ln>
        </p:spPr>
      </p:sp>
      <p:sp>
        <p:nvSpPr>
          <p:cNvPr id="41" name="mechanism-arrow">
            <a:extLst xmlns:a="http://schemas.openxmlformats.org/drawingml/2006/main">
              <a:ext uri="{FF2B5EF4-FFF2-40B4-BE49-F238E27FC236}">
                <a16:creationId xmlns:a16="http://schemas.microsoft.com/office/drawing/2014/main" id="{56527224-1080-4BEC-8CDA-E33EF22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458" y="15039594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0B9"/>
          </a:solidFill>
          <a:ln xmlns:a="http://schemas.openxmlformats.org/drawingml/2006/main" w="9525">
            <a:solidFill>
              <a:srgbClr val="3ED0B9"/>
            </a:solidFill>
            <a:prstDash val="solid"/>
          </a:ln>
        </p:spPr>
      </p:sp>
      <p:sp>
        <p:nvSpPr>
          <p:cNvPr id="42" name="mechanism-arrow">
            <a:extLst xmlns:a="http://schemas.openxmlformats.org/drawingml/2006/main">
              <a:ext uri="{FF2B5EF4-FFF2-40B4-BE49-F238E27FC236}">
                <a16:creationId xmlns:a16="http://schemas.microsoft.com/office/drawing/2014/main" id="{836023D2-8303-448E-8EC8-8E4C85B4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858" y="15039594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0B9"/>
          </a:solidFill>
          <a:ln xmlns:a="http://schemas.openxmlformats.org/drawingml/2006/main" w="9525">
            <a:solidFill>
              <a:srgbClr val="3ED0B9"/>
            </a:solidFill>
            <a:prstDash val="solid"/>
          </a:ln>
        </p:spPr>
      </p:sp>
      <p:sp>
        <p:nvSpPr>
          <p:cNvPr id="43" name="lora-row-label">
            <a:extLst xmlns:a="http://schemas.openxmlformats.org/drawingml/2006/main">
              <a:ext uri="{FF2B5EF4-FFF2-40B4-BE49-F238E27FC236}">
                <a16:creationId xmlns:a16="http://schemas.microsoft.com/office/drawing/2014/main" id="{C1189F34-DE25-43B6-B4E2-ABB3911D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08" y="12944094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44" name="dora-row-label">
            <a:extLst xmlns:a="http://schemas.openxmlformats.org/drawingml/2006/main">
              <a:ext uri="{FF2B5EF4-FFF2-40B4-BE49-F238E27FC236}">
                <a16:creationId xmlns:a16="http://schemas.microsoft.com/office/drawing/2014/main" id="{117BAA15-57F1-45D3-9785-D493B82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08" y="14849094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F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F80"/>
                </a:solidFill>
                <a:latin typeface="Arial"/>
                <a:ea typeface="Arial"/>
                <a:cs typeface="Arial"/>
              </a:rPr>
              <a:t>DoRA</a:t>
            </a:r>
          </a:p>
        </p:txBody>
      </p:sp>
      <p:sp>
        <p:nvSpPr>
          <p:cNvPr id="45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A0CBFA8C-D7BE-48AF-A587-823EEBB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867894"/>
            <a:ext cx="1428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5A5A5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W₀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заморожена</a:t>
            </a:r>
          </a:p>
        </p:txBody>
      </p:sp>
      <p:sp>
        <p:nvSpPr>
          <p:cNvPr id="46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975C8356-C93C-46D4-B3CA-0C683A24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808" y="12867894"/>
            <a:ext cx="2571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19050">
            <a:solidFill>
              <a:srgbClr val="A5A5A5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W₀ + (α/r)BA</a:t>
            </a:r>
          </a:p>
        </p:txBody>
      </p:sp>
      <p:sp>
        <p:nvSpPr>
          <p:cNvPr id="47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D131CCCD-4E46-4ED9-9F33-D85A1EB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308" y="12867894"/>
            <a:ext cx="176212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5656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Ŵ LoRA</a:t>
            </a:r>
          </a:p>
        </p:txBody>
      </p:sp>
      <p:sp>
        <p:nvSpPr>
          <p:cNvPr id="48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7B404E87-A2EE-4FC5-9AED-4C69AE08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772894"/>
            <a:ext cx="1238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D0B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W₀</a:t>
            </a:r>
          </a:p>
        </p:txBody>
      </p:sp>
      <p:sp>
        <p:nvSpPr>
          <p:cNvPr id="49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531576BA-0977-41B8-993E-D782765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14772894"/>
            <a:ext cx="2000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AFBF8"/>
          </a:solidFill>
          <a:ln xmlns:a="http://schemas.openxmlformats.org/drawingml/2006/main" w="19050">
            <a:solidFill>
              <a:srgbClr val="3ED0B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= W₀ +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(α/r)BA</a:t>
            </a:r>
          </a:p>
        </p:txBody>
      </p:sp>
      <p:sp>
        <p:nvSpPr>
          <p:cNvPr id="50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D65D9F74-9637-4F39-B954-03B516F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4772894"/>
            <a:ext cx="1238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AFBF8"/>
          </a:solidFill>
          <a:ln xmlns:a="http://schemas.openxmlformats.org/drawingml/2006/main" w="19050">
            <a:solidFill>
              <a:srgbClr val="3ED0B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/ ‖V‖_c</a:t>
            </a:r>
          </a:p>
        </p:txBody>
      </p:sp>
      <p:sp>
        <p:nvSpPr>
          <p:cNvPr id="51" name="mechanism-box">
            <a:extLst xmlns:a="http://schemas.openxmlformats.org/drawingml/2006/main">
              <a:ext uri="{FF2B5EF4-FFF2-40B4-BE49-F238E27FC236}">
                <a16:creationId xmlns:a16="http://schemas.microsoft.com/office/drawing/2014/main" id="{46405A7E-3ADD-482C-904E-26AEF74F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808" y="14772894"/>
            <a:ext cx="119062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8F8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 ⊙ V/‖V‖_c</a:t>
            </a:r>
          </a:p>
        </p:txBody>
      </p:sp>
      <p:sp>
        <p:nvSpPr>
          <p:cNvPr id="52" name="lora-caption">
            <a:extLst xmlns:a="http://schemas.openxmlformats.org/drawingml/2006/main">
              <a:ext uri="{FF2B5EF4-FFF2-40B4-BE49-F238E27FC236}">
                <a16:creationId xmlns:a16="http://schemas.microsoft.com/office/drawing/2014/main" id="{2BE9D6C0-DB41-4219-9849-8C56450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29919"/>
            <a:ext cx="6981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65656"/>
                </a:solidFill>
                <a:latin typeface="Arial"/>
                <a:ea typeface="Arial"/>
                <a:cs typeface="Arial"/>
              </a:rPr>
              <a:t>Low-rank поправка не разделяет масштаб и направление явно.</a:t>
            </a:r>
          </a:p>
        </p:txBody>
      </p:sp>
      <p:sp>
        <p:nvSpPr>
          <p:cNvPr id="53" name="dora-caption">
            <a:extLst xmlns:a="http://schemas.openxmlformats.org/drawingml/2006/main">
              <a:ext uri="{FF2B5EF4-FFF2-40B4-BE49-F238E27FC236}">
                <a16:creationId xmlns:a16="http://schemas.microsoft.com/office/drawing/2014/main" id="{CBE3AC21-AE4E-41C7-B308-AB873F2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811119"/>
            <a:ext cx="6981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8F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8F80"/>
                </a:solidFill>
                <a:latin typeface="Arial"/>
                <a:ea typeface="Arial"/>
                <a:cs typeface="Arial"/>
              </a:rPr>
              <a:t>V меняет направление, а обучаемый m отдельно задаёт восемь норм.</a:t>
            </a:r>
          </a:p>
        </p:txBody>
      </p:sp>
      <p:graphicFrame>
        <p:nvGraphicFramePr>
          <p:cNvPr id="94" name="Chart"/>
          <p:cNvGraphicFramePr/>
          <p:nvPr/>
        </p:nvGraphicFramePr>
        <p:xfrm>
          <a:off xmlns:a="http://schemas.openxmlformats.org/drawingml/2006/main" x="11540395" y="15969520"/>
          <a:ext xmlns:a="http://schemas.openxmlformats.org/drawingml/2006/main" cx="8328851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57a2da31514177"/>
          </a:graphicData>
        </a:graphic>
      </p:graphicFrame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07f6201a348bf"/>
          <a:stretch xmlns:a="http://schemas.openxmlformats.org/drawingml/2006/main"/>
        </p:blipFill>
        <p:spPr>
          <a:xfrm xmlns:a="http://schemas.openxmlformats.org/drawingml/2006/main">
            <a:off x="18437447" y="28382023"/>
            <a:ext cx="1278350" cy="1278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41552"/>
      </p:ext>
    </p:extLst>
  </p:cSld>
</p:sld>
</file>

<file path=ppt/theme/theme1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2026-07-15T12:12:21.7650000Z</dcterms:created>
  <dcterms:modified xsi:type="dcterms:W3CDTF">2026-07-15T12:12:21.7650000Z</dcterms:modified>
</coreProperties>
</file>